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notesMaster" Target="notesMasters/notesMaster1.xml" /><Relationship Id="rId15" Type="http://schemas.openxmlformats.org/officeDocument/2006/relationships/viewProps" Target="viewProps.xml" /><Relationship Id="rId14" Type="http://schemas.openxmlformats.org/officeDocument/2006/relationships/presProps" Target="presProps.xml" /><Relationship Id="rId1" Type="http://schemas.openxmlformats.org/officeDocument/2006/relationships/slideMaster" Target="slideMasters/slideMaster1.xml" /><Relationship Id="rId17" Type="http://schemas.openxmlformats.org/officeDocument/2006/relationships/tableStyles" Target="tableStyles.xml" /><Relationship Id="rId1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Hello everyone, I am very pleased to be here today to present the first results of our research project on “DoubleMLDeep: Estimation of Causal Effects with Multimodal Data”! Our research group consists of</a:t>
            </a:r>
          </a:p>
          <a:p>
            <a:pPr lvl="0" indent="0" marL="0">
              <a:buNone/>
            </a:pPr>
          </a:p>
          <a:p>
            <a:pPr lvl="0" indent="0" marL="0">
              <a:buNone/>
            </a:pPr>
            <a:r>
              <a:rPr/>
              <a:t>…</a:t>
            </a:r>
          </a:p>
          <a:p>
            <a:pPr lvl="0" indent="0" marL="0">
              <a:buNone/>
            </a:pPr>
          </a:p>
          <a:p>
            <a:pPr lvl="0" indent="0" marL="0">
              <a:buNone/>
            </a:pPr>
            <a:r>
              <a:rPr/>
              <a:t>My name is Jan Teichert-Kluge, and I am a research associate and PhD student at the University of Hamburg in the field of statistics with applications in business administration and data science. In my research, I focus on the exciting fields of machine learning, especially deep learning, and causal inference. I look forward to networking with you after my presentation and having further discussions on the topics of statistics, machine learning and causal inference.</a:t>
            </a:r>
          </a:p>
        </p:txBody>
      </p:sp>
      <p:sp>
        <p:nvSpPr>
          <p:cNvPr id="4" name="Slide Number Placeholder 3"/>
          <p:cNvSpPr>
            <a:spLocks noGrp="1"/>
          </p:cNvSpPr>
          <p:nvPr>
            <p:ph type="sldNum" sz="quarter" idx="10"/>
          </p:nvPr>
        </p:nvSpPr>
        <p:spPr/>
        <p:txBody>
          <a:bodyPr/>
          <a:lstStyle/>
          <a:p>
            <a:fld id="{18BDFEC3-8487-43E8-A154-7C12CBC1FFF2}"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would like to start with our motivation for this project. A major motivating factor is the growth in data volumes in the course of global digitalization. More and more unstructured data is also becoming available -&gt; keyword: big data.</a:t>
            </a:r>
          </a:p>
          <a:p>
            <a:pPr lvl="0" indent="0" marL="0">
              <a:buNone/>
            </a:pPr>
          </a:p>
          <a:p>
            <a:pPr lvl="0" indent="0" marL="0">
              <a:buNone/>
            </a:pPr>
            <a:r>
              <a:rPr/>
              <a:t>So, here you see the website of a well-known online store. There is a lot of data behind it, but not all of it is publicly accessible. However, most online stores have published - photos of their products - a description of the products as text - some tabular data such as the average rating or the number of reviews on the product page</a:t>
            </a:r>
          </a:p>
          <a:p>
            <a:pPr lvl="0" indent="0" marL="0">
              <a:buNone/>
            </a:pPr>
          </a:p>
          <a:p>
            <a:pPr lvl="0" indent="0" marL="0">
              <a:buNone/>
            </a:pPr>
            <a:r>
              <a:rPr/>
              <a:t>…</a:t>
            </a:r>
          </a:p>
          <a:p>
            <a:pPr lvl="0" indent="0" marL="0">
              <a:buNone/>
            </a:pPr>
          </a:p>
          <a:p>
            <a:pPr lvl="0" indent="0" marL="0">
              <a:buNone/>
            </a:pPr>
            <a:r>
              <a:rPr/>
              <a:t>What all examples have in common is: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question now is how to estimate the causal effect!</a:t>
            </a:r>
          </a:p>
          <a:p>
            <a:pPr lvl="0" indent="0" marL="0">
              <a:buNone/>
            </a:pPr>
          </a:p>
          <a:p>
            <a:pPr lvl="0" indent="0" marL="0">
              <a:buNone/>
            </a:pPr>
            <a:r>
              <a:rPr/>
              <a:t>We define this partial linear regression model with the outcome </a:t>
            </a:r>
            <a:r>
              <a:rPr/>
              <a:t>Y</a:t>
            </a:r>
            <a:r>
              <a:rPr/>
              <a:t> and treatment </a:t>
            </a:r>
            <a:r>
              <a:rPr/>
              <a:t>D</a:t>
            </a:r>
            <a:r>
              <a:rPr/>
              <a:t>. Possible confounders are selected as </a:t>
            </a:r>
            <a:r>
              <a:rPr/>
              <a:t>X</a:t>
            </a:r>
            <a:r>
              <a:rPr/>
              <a:t>.</a:t>
            </a:r>
          </a:p>
          <a:p>
            <a:pPr lvl="0" indent="0" marL="0">
              <a:buNone/>
            </a:pPr>
          </a:p>
          <a:p>
            <a:pPr lvl="0" indent="0" marL="0">
              <a:buNone/>
            </a:pPr>
            <a:r>
              <a:rPr/>
              <a:t>This causal model is shown here as a DAG (directed acyclic graph).</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use ML methods to learn the conditional expected values of Y on X, respectively D on X.</a:t>
            </a:r>
          </a:p>
          <a:p>
            <a:pPr lvl="0" indent="0" marL="0">
              <a:buNone/>
            </a:pPr>
          </a:p>
          <a:p>
            <a:pPr lvl="0" indent="0" marL="0">
              <a:buNone/>
            </a:pPr>
            <a:r>
              <a:rPr/>
              <a:t>Then we use this orth. score and solve this equation to get the estimate theta hat!</a:t>
            </a:r>
          </a:p>
          <a:p>
            <a:pPr lvl="0" indent="0" marL="0">
              <a:buNone/>
            </a:pPr>
          </a:p>
          <a:p>
            <a:pPr lvl="0"/>
            <a:r>
              <a:rPr/>
              <a:t>On the final step, we calculate the estimate by solving the following equation:</a:t>
            </a:r>
          </a:p>
          <a:p>
            <a:pPr lvl="0" indent="0" marL="0">
              <a:buNone/>
            </a:pPr>
          </a:p>
          <a:p>
            <a:pPr lvl="0"/>
            <a:r>
              <a:rPr/>
              <a:t>We rely on the approach of Chernozhukov et al. (2018)</a:t>
            </a:r>
          </a:p>
          <a:p>
            <a:pPr lvl="0" indent="0" marL="0">
              <a:buNone/>
            </a:pPr>
          </a:p>
          <a:p>
            <a:pPr lvl="0"/>
            <a:r>
              <a:rPr/>
              <a:t>This estimator has, under certain conditions, nice properties!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I would like to briefly explain the workflow of DoubleMLDeep in Python. wor First of all, some necessary input parameters must be defined. Then the actual DoubleMLDeep network can be created, which uses Hugging Face Transformer models and the Pytorch framework, among other things.</a:t>
            </a:r>
          </a:p>
          <a:p>
            <a:pPr lvl="0" indent="0" marL="0">
              <a:buNone/>
            </a:pPr>
          </a:p>
          <a:p>
            <a:pPr lvl="0" indent="0" marL="0">
              <a:buNone/>
            </a:pPr>
            <a:r>
              <a:rPr/>
              <a:t>A DoubleMLDeep Data Module must be created and handles the various input data such as texts and images. This uses the Pytorch Lightning Framework.</a:t>
            </a:r>
          </a:p>
          <a:p>
            <a:pPr lvl="0" indent="0" marL="0">
              <a:buNone/>
            </a:pPr>
          </a:p>
          <a:p>
            <a:pPr lvl="0" indent="0" marL="0">
              <a:buNone/>
            </a:pPr>
            <a:r>
              <a:rPr/>
              <a:t>The DoubleMLDeep Lightning Module also uses Pytorch Lightning and contains additional training parameters.</a:t>
            </a:r>
          </a:p>
          <a:p>
            <a:pPr lvl="0" indent="0" marL="0">
              <a:buNone/>
            </a:pPr>
          </a:p>
          <a:p>
            <a:pPr lvl="0" indent="0" marL="0">
              <a:buNone/>
            </a:pPr>
            <a:r>
              <a:rPr/>
              <a:t>The network can now be trained with the pytorch Lightning Trainer. The corresponding predictions in the DoubleML package can then be used to obtain the estimate of the causal parameter.</a:t>
            </a:r>
          </a:p>
          <a:p>
            <a:pPr lvl="0" indent="0" marL="0">
              <a:buNone/>
            </a:pPr>
          </a:p>
          <a:p>
            <a:pPr lvl="0"/>
            <a:r>
              <a:rPr b="1"/>
              <a:t>Unstructured Data Models:</a:t>
            </a:r>
            <a:r>
              <a:rPr/>
              <a:t> We employ pre-trained models like BERT and BEiT to extract valuable information from unstructured data, including product descriptions and images.</a:t>
            </a:r>
          </a:p>
          <a:p>
            <a:pPr lvl="0" indent="0" marL="0">
              <a:buNone/>
            </a:pPr>
          </a:p>
          <a:p>
            <a:pPr lvl="0"/>
            <a:r>
              <a:rPr b="1"/>
              <a:t>Tabular Data Models:</a:t>
            </a:r>
            <a:r>
              <a:rPr/>
              <a:t> Basic models for tabular data have proven to be effective.</a:t>
            </a:r>
          </a:p>
          <a:p>
            <a:pPr lvl="0" indent="0" marL="0">
              <a:buNone/>
            </a:pPr>
          </a:p>
          <a:p>
            <a:pPr lvl="0"/>
            <a:r>
              <a:rPr b="1"/>
              <a:t>Monitoring Nuisance Losses:</a:t>
            </a:r>
            <a:r>
              <a:rPr/>
              <a:t> To ensure the reliability of our estimations, we diligently monitor nuisance losses. The following conditions are crucial for assessing the quality of our models:</a:t>
            </a:r>
          </a:p>
          <a:p>
            <a:pPr lvl="0" indent="0" marL="0">
              <a:buNone/>
            </a:pPr>
          </a:p>
          <a:p>
            <a:pPr lvl="1"/>
            <a:r>
              <a:rPr/>
              <a:t>\lVert Y - \hat{l}(X) \rVert_{P,2} &amp;\le \lVert l_0 - \hat{l}(X) \rVert_{P,2} + \sigma_{\epsilon}</a:t>
            </a:r>
          </a:p>
          <a:p>
            <a:pPr lvl="0" indent="0" marL="0">
              <a:buNone/>
            </a:pPr>
          </a:p>
          <a:p>
            <a:pPr lvl="1"/>
            <a:r>
              <a:rPr/>
              <a:t>$ D - (X) </a:t>
            </a:r>
            <a:r>
              <a:rPr i="1"/>
              <a:t>{P,2} &amp;m_0(X) - (X)</a:t>
            </a:r>
            <a:r>
              <a:rPr/>
              <a:t>{P,2} + _{}$</a:t>
            </a:r>
          </a:p>
          <a:p>
            <a:pPr lvl="0" indent="0" marL="0">
              <a:buNone/>
            </a:pPr>
          </a:p>
          <a:p>
            <a:pPr lvl="1" indent="0" marL="342900">
              <a:buNone/>
            </a:pPr>
            <a:r>
              <a:rPr/>
              <a:t>These conditions help maintain the validity of our estimates by ensuring that the discrepancies between our estimated nuisance functions and their true counterparts, along with stochastic errors, remain within acceptable bounds.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t>
            </a:r>
          </a:p>
          <a:p>
            <a:pPr lvl="0" indent="0" marL="0">
              <a:buNone/>
            </a:pPr>
          </a:p>
          <a:p>
            <a:pPr lvl="0" indent="0" marL="0">
              <a:buNone/>
            </a:pPr>
            <a:r>
              <a:rPr/>
              <a: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Economic AI: for industry collaborations and trainings on doubleml please check out the website of economicai.com !</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xml" /><Relationship Id="rId3"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5" Type="http://schemas.openxmlformats.org/officeDocument/2006/relationships/image" Target="../media/image4.png" /><Relationship Id="rId4" Type="http://schemas.openxmlformats.org/officeDocument/2006/relationships/image" Target="../media/image3.png" /><Relationship Id="rId3"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5.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5" Type="http://schemas.openxmlformats.org/officeDocument/2006/relationships/hyperlink" Target="https://docs.doubleml.org/stable/index.html" TargetMode="External" /><Relationship Id="rId4" Type="http://schemas.openxmlformats.org/officeDocument/2006/relationships/image" Target="../media/image8.png" /><Relationship Id="rId3" Type="http://schemas.openxmlformats.org/officeDocument/2006/relationships/image" Target="../media/image7.png" /><Relationship Id="rId2" Type="http://schemas.openxmlformats.org/officeDocument/2006/relationships/image" Target="../media/image6.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hyperlink" Target="https://onlinelibrary.wiley.com/doi/abs/10.1111/ectj.12097"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a:t>
            </a:r>
          </a:p>
          <a:p>
            <a:pPr lvl="0" indent="0" marL="0">
              <a:buNone/>
            </a:pPr>
            <a:r>
              <a:rPr/>
              <a:t>DoubleMLDeep: Estimation of Causal Effects with Multimodal Data</a:t>
            </a:r>
          </a:p>
          <a:p>
            <a:pPr lvl="0" indent="0" marL="0">
              <a:buNone/>
            </a:pPr>
            <a:r>
              <a:rPr/>
              <a:t>February 20, 2024</a:t>
            </a:r>
          </a:p>
          <a:p>
            <a:pPr lvl="0" indent="0" marL="0">
              <a:buNone/>
            </a:pPr>
            <a:r>
              <a:rPr/>
              <a:t>Sven Klaassen  University of Hamburg  Economic AI</a:t>
            </a:r>
          </a:p>
          <a:p>
            <a:pPr lvl="0" indent="0" marL="0">
              <a:buNone/>
            </a:pPr>
            <a:r>
              <a:rPr/>
              <a:t>Jan Teichert-Kluge  University of Hamburg</a:t>
            </a:r>
          </a:p>
          <a:p>
            <a:pPr lvl="0" indent="0" marL="0">
              <a:buNone/>
            </a:pPr>
            <a:r>
              <a:rPr/>
              <a:t>Philipp Bach  University of Hamburg  Economic AI</a:t>
            </a:r>
          </a:p>
          <a:p>
            <a:pPr lvl="0" indent="0" marL="0">
              <a:buNone/>
            </a:pPr>
            <a:r>
              <a:rPr/>
              <a:t>Victor Chernozhukov  Massachusetts Instituteof Technology</a:t>
            </a:r>
          </a:p>
          <a:p>
            <a:pPr lvl="0" indent="0" marL="0">
              <a:buNone/>
            </a:pPr>
            <a:r>
              <a:rPr/>
              <a:t>Martin Spindler  University of Hamburg  Economic AI</a:t>
            </a:r>
          </a:p>
          <a:p>
            <a:pPr lvl="0" indent="0" marL="0">
              <a:buNone/>
            </a:pPr>
            <a:r>
              <a:rPr/>
              <a:t>Suhas Vijaykumar  Massachusetts Instituteof Technology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Motivation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Motivating Example - Data Sources</a:t>
                </a:r>
              </a:p>
              <a:p>
                <a:pPr lvl="0" indent="0" marL="0">
                  <a:buNone/>
                </a:pPr>
              </a:p>
              <a:p>
                <a:pPr lvl="0" indent="0" marL="0">
                  <a:buNone/>
                </a:pPr>
                <a:r>
                  <a:rPr/>
                  <a:t>Image Data</a:t>
                </a:r>
              </a:p>
              <a:p>
                <a:pPr lvl="0" indent="0" marL="0">
                  <a:buNone/>
                </a:pPr>
                <a:r>
                  <a:rPr/>
                  <a:t>Text Data</a:t>
                </a:r>
              </a:p>
              <a:p>
                <a:pPr lvl="0" indent="0" marL="0">
                  <a:buNone/>
                </a:pPr>
                <a:r>
                  <a:rPr/>
                  <a:t>Tabular Data</a:t>
                </a:r>
              </a:p>
              <a:p>
                <a:pPr lvl="0" indent="0" marL="0">
                  <a:spcBef>
                    <a:spcPts val="3000"/>
                  </a:spcBef>
                  <a:buNone/>
                </a:pPr>
                <a:r>
                  <a:rPr b="1"/>
                  <a:t>Motivating Examples</a:t>
                </a:r>
              </a:p>
              <a:p>
                <a:pPr lvl="0"/>
                <a:r>
                  <a:rPr/>
                  <a:t>Example Use Cases:</a:t>
                </a:r>
              </a:p>
              <a:p>
                <a:pPr lvl="1"/>
                <a:r>
                  <a:rPr/>
                  <a:t>Price Elasticity</a:t>
                </a:r>
              </a:p>
              <a:p>
                <a:pPr lvl="1"/>
                <a:r>
                  <a:rPr/>
                  <a:t>Effects of medical treatments</a:t>
                </a:r>
              </a:p>
              <a:p>
                <a:pPr lvl="1"/>
                <a:r>
                  <a:rPr/>
                  <a:t>Effects on the environment, e.g. the effect of condensation trails on the climate</a:t>
                </a:r>
              </a:p>
              <a:p>
                <a:pPr lvl="0"/>
                <a:r>
                  <a:rPr/>
                  <a:t>Sources like images and text contain valuable insights</a:t>
                </a:r>
              </a:p>
              <a:p>
                <a:pPr lvl="1"/>
                <a:r>
                  <a:rPr/>
                  <a:t>Contain rich hidden information about unobserved confounding variables</a:t>
                </a:r>
              </a:p>
              <a:p>
                <a:pPr lvl="0" indent="0" marL="0">
                  <a:spcBef>
                    <a:spcPts val="3000"/>
                  </a:spcBef>
                  <a:buNone/>
                </a:pPr>
                <a:r>
                  <a:rPr b="1"/>
                  <a:t>Motivating Example - PLR</a:t>
                </a:r>
              </a:p>
              <a:p>
                <a:pPr lvl="0" indent="0" marL="0">
                  <a:spcBef>
                    <a:spcPts val="3000"/>
                  </a:spcBef>
                  <a:buNone/>
                </a:pPr>
                <a:r>
                  <a:rPr b="1"/>
                  <a:t>Partially linear regression model (PLR)</a:t>
                </a:r>
              </a:p>
              <a:p>
                <a:pPr lvl="0" indent="0" marL="0">
                  <a:buNone/>
                </a:pPr>
                <a14:m>
                  <m:oMathPara xmlns:m="http://schemas.openxmlformats.org/officeDocument/2006/math">
                    <m:oMathParaPr>
                      <m:jc m:val="center"/>
                    </m:oMathParaPr>
                    <m:oMath>
                      <m:m>
                        <m:mPr>
                          <m:baseJc m:val="center"/>
                          <m:plcHide m:val="on"/>
                          <m:mcs>
                            <m:mc>
                              <m:mcPr>
                                <m:mcJc m:val="right"/>
                                <m:count m:val="1"/>
                              </m:mcPr>
                            </m:mc>
                            <m:mc>
                              <m:mcPr>
                                <m:mcJc m:val="left"/>
                                <m:count m:val="1"/>
                              </m:mcPr>
                            </m:mc>
                            <m:mc>
                              <m:mcPr>
                                <m:mcJc m:val="right"/>
                                <m:count m:val="1"/>
                              </m:mcPr>
                            </m:mc>
                          </m:mcs>
                        </m:mPr>
                        <m:mr>
                          <m:e>
                            <m:r>
                              <m:t>Y</m:t>
                            </m:r>
                          </m:e>
                          <m:e>
                            <m:r>
                              <m:rPr>
                                <m:sty m:val="p"/>
                              </m:rPr>
                              <m:t>=</m:t>
                            </m:r>
                            <m:sSub>
                              <m:e>
                                <m:r>
                                  <m:t>θ</m:t>
                                </m:r>
                              </m:e>
                              <m:sub>
                                <m:r>
                                  <m:t>0</m:t>
                                </m:r>
                              </m:sub>
                            </m:sSub>
                            <m:r>
                              <m:t>D</m:t>
                            </m:r>
                            <m:r>
                              <m:rPr>
                                <m:sty m:val="p"/>
                              </m:rPr>
                              <m:t>+</m:t>
                            </m:r>
                            <m:sSub>
                              <m:e>
                                <m:r>
                                  <m:t>g</m:t>
                                </m:r>
                              </m:e>
                              <m:sub>
                                <m:r>
                                  <m:t>0</m:t>
                                </m:r>
                              </m:sub>
                            </m:sSub>
                            <m:d>
                              <m:dPr>
                                <m:begChr m:val="("/>
                                <m:endChr m:val=")"/>
                                <m:sepChr m:val=""/>
                                <m:grow/>
                              </m:dPr>
                              <m:e>
                                <m:r>
                                  <m:t>X</m:t>
                                </m:r>
                              </m:e>
                            </m:d>
                            <m:r>
                              <m:rPr>
                                <m:sty m:val="p"/>
                              </m:rPr>
                              <m:t>+</m:t>
                            </m:r>
                            <m:r>
                              <m:t>ε</m:t>
                            </m:r>
                            <m:r>
                              <m:rPr>
                                <m:sty m:val="p"/>
                              </m:rPr>
                              <m:t>,</m:t>
                            </m:r>
                          </m:e>
                          <m:e>
                            <m:r>
                              <m:rPr>
                                <m:sty m:val="p"/>
                                <m:scr m:val="double-struck"/>
                              </m:rPr>
                              <m:t>E</m:t>
                            </m:r>
                            <m:d>
                              <m:dPr>
                                <m:begChr m:val="["/>
                                <m:endChr m:val="]"/>
                                <m:sepChr m:val=""/>
                                <m:grow/>
                              </m:dPr>
                              <m:e>
                                <m:r>
                                  <m:t>ε</m:t>
                                </m:r>
                                <m:r>
                                  <m:rPr>
                                    <m:sty m:val="p"/>
                                  </m:rPr>
                                  <m:t>|</m:t>
                                </m:r>
                                <m:r>
                                  <m:t>X</m:t>
                                </m:r>
                                <m:r>
                                  <m:rPr>
                                    <m:sty m:val="p"/>
                                  </m:rPr>
                                  <m:t>,</m:t>
                                </m:r>
                                <m:r>
                                  <m:t>D</m:t>
                                </m:r>
                              </m:e>
                            </m:d>
                            <m:r>
                              <m:rPr>
                                <m:sty m:val="p"/>
                              </m:rPr>
                              <m:t>=</m:t>
                            </m:r>
                            <m:r>
                              <m:t>0</m:t>
                            </m:r>
                          </m:e>
                        </m:mr>
                        <m:mr>
                          <m:e>
                            <m:r>
                              <m:t>D</m:t>
                            </m:r>
                          </m:e>
                          <m:e>
                            <m:r>
                              <m:rPr>
                                <m:sty m:val="p"/>
                              </m:rPr>
                              <m:t>=</m:t>
                            </m:r>
                            <m:sSub>
                              <m:e>
                                <m:r>
                                  <m:t>m</m:t>
                                </m:r>
                              </m:e>
                              <m:sub>
                                <m:r>
                                  <m:t>0</m:t>
                                </m:r>
                              </m:sub>
                            </m:sSub>
                            <m:d>
                              <m:dPr>
                                <m:begChr m:val="("/>
                                <m:endChr m:val=")"/>
                                <m:sepChr m:val=""/>
                                <m:grow/>
                              </m:dPr>
                              <m:e>
                                <m:r>
                                  <m:t>X</m:t>
                                </m:r>
                              </m:e>
                            </m:d>
                            <m:r>
                              <m:rPr>
                                <m:sty m:val="p"/>
                              </m:rPr>
                              <m:t>+</m:t>
                            </m:r>
                            <m:r>
                              <m:t>ϑ</m:t>
                            </m:r>
                            <m:r>
                              <m:rPr>
                                <m:sty m:val="p"/>
                              </m:rPr>
                              <m:t>,</m:t>
                            </m:r>
                          </m:e>
                          <m:e>
                            <m:r>
                              <m:rPr>
                                <m:sty m:val="p"/>
                                <m:scr m:val="double-struck"/>
                              </m:rPr>
                              <m:t>E</m:t>
                            </m:r>
                            <m:d>
                              <m:dPr>
                                <m:begChr m:val="["/>
                                <m:endChr m:val="]"/>
                                <m:sepChr m:val=""/>
                                <m:grow/>
                              </m:dPr>
                              <m:e>
                                <m:r>
                                  <m:t>ϑ</m:t>
                                </m:r>
                                <m:r>
                                  <m:rPr>
                                    <m:sty m:val="p"/>
                                  </m:rPr>
                                  <m:t>|</m:t>
                                </m:r>
                                <m:r>
                                  <m:t>X</m:t>
                                </m:r>
                              </m:e>
                            </m:d>
                            <m:r>
                              <m:rPr>
                                <m:sty m:val="p"/>
                              </m:rPr>
                              <m:t>=</m:t>
                            </m:r>
                            <m:r>
                              <m:t>0</m:t>
                            </m:r>
                          </m:e>
                        </m:mr>
                      </m:m>
                    </m:oMath>
                  </m:oMathPara>
                </a14:m>
              </a:p>
              <a:p>
                <a:pPr lvl="0" indent="0" marL="0">
                  <a:buNone/>
                </a:pPr>
                <a:r>
                  <a:rPr/>
                  <a:t>with</a:t>
                </a:r>
              </a:p>
            </p:txBody>
          </p:sp>
        </mc:Choice>
      </mc:AlternateContent>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Output </a:t>
                </a:r>
                <a14:m>
                  <m:oMath xmlns:m="http://schemas.openxmlformats.org/officeDocument/2006/math">
                    <m:r>
                      <m:t>Y</m:t>
                    </m:r>
                  </m:oMath>
                </a14:m>
              </a:p>
              <a:p>
                <a:pPr lvl="0"/>
                <a:r>
                  <a:rPr/>
                  <a:t>Treatment </a:t>
                </a:r>
                <a14:m>
                  <m:oMath xmlns:m="http://schemas.openxmlformats.org/officeDocument/2006/math">
                    <m:r>
                      <m:t>D</m:t>
                    </m:r>
                  </m:oMath>
                </a14:m>
              </a:p>
              <a:p>
                <a:pPr lvl="0"/>
                <a:r>
                  <a:rPr/>
                  <a:t>Additional features </a:t>
                </a:r>
                <a14:m>
                  <m:oMath xmlns:m="http://schemas.openxmlformats.org/officeDocument/2006/math">
                    <m:r>
                      <m:t>X</m:t>
                    </m:r>
                    <m:r>
                      <m:rPr>
                        <m:sty m:val="p"/>
                      </m:rPr>
                      <m:t>=</m:t>
                    </m:r>
                    <m:d>
                      <m:dPr>
                        <m:begChr m:val="("/>
                        <m:endChr m:val=")"/>
                        <m:sepChr m:val=""/>
                        <m:grow/>
                      </m:dPr>
                      <m:e>
                        <m:sSub>
                          <m:e>
                            <m:r>
                              <m:t>X</m:t>
                            </m:r>
                          </m:e>
                          <m:sub>
                            <m:r>
                              <m:t>1</m:t>
                            </m:r>
                          </m:sub>
                        </m:sSub>
                        <m:r>
                          <m:rPr>
                            <m:sty m:val="p"/>
                          </m:rPr>
                          <m:t>,</m:t>
                        </m:r>
                        <m:r>
                          <m:rPr>
                            <m:sty m:val="p"/>
                          </m:rPr>
                          <m:t>…</m:t>
                        </m:r>
                      </m:e>
                    </m:d>
                  </m:oMath>
                </a14:m>
              </a:p>
              <a:p>
                <a:pPr lvl="0"/>
                <a:r>
                  <a:rPr/>
                  <a:t>Stochastic errors </a:t>
                </a:r>
                <a14:m>
                  <m:oMath xmlns:m="http://schemas.openxmlformats.org/officeDocument/2006/math">
                    <m:r>
                      <m:t>ε</m:t>
                    </m:r>
                  </m:oMath>
                </a14:m>
                <a:r>
                  <a:rPr/>
                  <a:t> and </a:t>
                </a:r>
                <a14:m>
                  <m:oMath xmlns:m="http://schemas.openxmlformats.org/officeDocument/2006/math">
                    <m:r>
                      <m:t>ϑ</m:t>
                    </m:r>
                  </m:oMath>
                </a14:m>
              </a:p>
            </p:txBody>
          </p:sp>
        </mc:Choice>
      </mc:AlternateContent>
      <p:pic>
        <p:nvPicPr>
          <p:cNvPr descr="figures/DAG_001.png" id="0" name="Picture 1"/>
          <p:cNvPicPr>
            <a:picLocks noGrp="1" noChangeAspect="1"/>
          </p:cNvPicPr>
          <p:nvPr/>
        </p:nvPicPr>
        <p:blipFill>
          <a:blip r:embed="rId3"/>
          <a:stretch>
            <a:fillRect/>
          </a:stretch>
        </p:blipFill>
        <p:spPr bwMode="auto">
          <a:xfrm>
            <a:off x="4648200" y="1295400"/>
            <a:ext cx="4038600" cy="26797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DAG for PLR Model</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Motivating Example - DML</a:t>
                </a:r>
              </a:p>
              <a:p>
                <a:pPr lvl="0" indent="0" marL="0">
                  <a:spcBef>
                    <a:spcPts val="3000"/>
                  </a:spcBef>
                  <a:buNone/>
                </a:pPr>
                <a:r>
                  <a:rPr b="1"/>
                  <a:t>Double/Debiased Machine Learning (DML)</a:t>
                </a:r>
              </a:p>
              <a:p>
                <a:pPr lvl="0"/>
                <a:r>
                  <a:rPr/>
                  <a:t>Use machine learning methods to fit</a:t>
                </a:r>
              </a:p>
              <a:p>
                <a:pPr lvl="0"/>
                <a14:m>
                  <m:oMathPara xmlns:m="http://schemas.openxmlformats.org/officeDocument/2006/math">
                    <m:oMathParaPr>
                      <m:jc m:val="center"/>
                    </m:oMathParaPr>
                    <m:oMath>
                      <m:m>
                        <m:mPr>
                          <m:baseJc m:val="center"/>
                          <m:plcHide m:val="on"/>
                          <m:mcs>
                            <m:mc>
                              <m:mcPr>
                                <m:mcJc m:val="right"/>
                                <m:count m:val="1"/>
                              </m:mcPr>
                            </m:mc>
                            <m:mc>
                              <m:mcPr>
                                <m:mcJc m:val="left"/>
                                <m:count m:val="1"/>
                              </m:mcPr>
                            </m:mc>
                          </m:mcs>
                        </m:mPr>
                        <m:mr>
                          <m:e>
                            <m:sSub>
                              <m:e>
                                <m:r>
                                  <m:t>l</m:t>
                                </m:r>
                              </m:e>
                              <m:sub>
                                <m:r>
                                  <m:t>0</m:t>
                                </m:r>
                              </m:sub>
                            </m:sSub>
                            <m:d>
                              <m:dPr>
                                <m:begChr m:val="("/>
                                <m:endChr m:val=")"/>
                                <m:sepChr m:val=""/>
                                <m:grow/>
                              </m:dPr>
                              <m:e>
                                <m:r>
                                  <m:t>X</m:t>
                                </m:r>
                              </m:e>
                            </m:d>
                          </m:e>
                          <m:e>
                            <m:box>
                              <m:boxPr>
                                <m:opEmu m:val="on"/>
                              </m:boxPr>
                              <m:e>
                                <m:r>
                                  <m:rPr>
                                    <m:sty m:val="p"/>
                                  </m:rPr>
                                  <m:t>:=</m:t>
                                </m:r>
                              </m:e>
                            </m:box>
                            <m:r>
                              <m:rPr>
                                <m:sty m:val="p"/>
                                <m:scr m:val="double-struck"/>
                              </m:rPr>
                              <m:t>E</m:t>
                            </m:r>
                            <m:d>
                              <m:dPr>
                                <m:begChr m:val="["/>
                                <m:endChr m:val="]"/>
                                <m:sepChr m:val=""/>
                                <m:grow/>
                              </m:dPr>
                              <m:e>
                                <m:r>
                                  <m:t>Y</m:t>
                                </m:r>
                                <m:r>
                                  <m:rPr>
                                    <m:sty m:val="p"/>
                                  </m:rPr>
                                  <m:t>|</m:t>
                                </m:r>
                                <m:r>
                                  <m:t>X</m:t>
                                </m:r>
                              </m:e>
                            </m:d>
                          </m:e>
                        </m:mr>
                        <m:mr>
                          <m:e>
                            <m:sSub>
                              <m:e>
                                <m:r>
                                  <m:t>m</m:t>
                                </m:r>
                              </m:e>
                              <m:sub>
                                <m:r>
                                  <m:t>0</m:t>
                                </m:r>
                              </m:sub>
                            </m:sSub>
                            <m:d>
                              <m:dPr>
                                <m:begChr m:val="("/>
                                <m:endChr m:val=")"/>
                                <m:sepChr m:val=""/>
                                <m:grow/>
                              </m:dPr>
                              <m:e>
                                <m:r>
                                  <m:t>X</m:t>
                                </m:r>
                              </m:e>
                            </m:d>
                          </m:e>
                          <m:e>
                            <m:box>
                              <m:boxPr>
                                <m:opEmu m:val="on"/>
                              </m:boxPr>
                              <m:e>
                                <m:r>
                                  <m:rPr>
                                    <m:sty m:val="p"/>
                                  </m:rPr>
                                  <m:t>:=</m:t>
                                </m:r>
                              </m:e>
                            </m:box>
                            <m:r>
                              <m:rPr>
                                <m:sty m:val="p"/>
                                <m:scr m:val="double-struck"/>
                              </m:rPr>
                              <m:t>E</m:t>
                            </m:r>
                            <m:d>
                              <m:dPr>
                                <m:begChr m:val="["/>
                                <m:endChr m:val="]"/>
                                <m:sepChr m:val=""/>
                                <m:grow/>
                              </m:dPr>
                              <m:e>
                                <m:r>
                                  <m:t>D</m:t>
                                </m:r>
                                <m:r>
                                  <m:rPr>
                                    <m:sty m:val="p"/>
                                  </m:rPr>
                                  <m:t>|</m:t>
                                </m:r>
                                <m:r>
                                  <m:t>X</m:t>
                                </m:r>
                              </m:e>
                            </m:d>
                          </m:e>
                        </m:mr>
                      </m:m>
                    </m:oMath>
                  </m:oMathPara>
                </a14:m>
              </a:p>
              <a:p>
                <a:pPr lvl="0"/>
                <a:r>
                  <a:rPr/>
                  <a:t>Construct the orthogonalized score (either cross-fitting or split the sample) for a fitted nuisance learner </a:t>
                </a:r>
                <a14:m>
                  <m:oMath xmlns:m="http://schemas.openxmlformats.org/officeDocument/2006/math">
                    <m:sSub>
                      <m:e>
                        <m:acc>
                          <m:accPr>
                            <m:chr m:val="̂"/>
                          </m:accPr>
                          <m:e>
                            <m:r>
                              <m:t>η</m:t>
                            </m:r>
                          </m:e>
                        </m:acc>
                      </m:e>
                      <m:sub>
                        <m:r>
                          <m:t>0</m:t>
                        </m:r>
                      </m:sub>
                    </m:sSub>
                    <m:box>
                      <m:boxPr>
                        <m:opEmu m:val="on"/>
                      </m:boxPr>
                      <m:e>
                        <m:r>
                          <m:rPr>
                            <m:sty m:val="p"/>
                          </m:rPr>
                          <m:t>:=</m:t>
                        </m:r>
                      </m:e>
                    </m:box>
                    <m:d>
                      <m:dPr>
                        <m:begChr m:val="("/>
                        <m:endChr m:val=")"/>
                        <m:sepChr m:val=""/>
                        <m:grow/>
                      </m:dPr>
                      <m:e>
                        <m:sSub>
                          <m:e>
                            <m:acc>
                              <m:accPr>
                                <m:chr m:val="̂"/>
                              </m:accPr>
                              <m:e>
                                <m:r>
                                  <m:t>l</m:t>
                                </m:r>
                              </m:e>
                            </m:acc>
                          </m:e>
                          <m:sub>
                            <m:r>
                              <m:t>0</m:t>
                            </m:r>
                          </m:sub>
                        </m:sSub>
                        <m:r>
                          <m:rPr>
                            <m:sty m:val="p"/>
                          </m:rPr>
                          <m:t>,</m:t>
                        </m:r>
                        <m:sSub>
                          <m:e>
                            <m:acc>
                              <m:accPr>
                                <m:chr m:val="̂"/>
                              </m:accPr>
                              <m:e>
                                <m:r>
                                  <m:t>m</m:t>
                                </m:r>
                              </m:e>
                            </m:acc>
                          </m:e>
                          <m:sub>
                            <m:r>
                              <m:t>0</m:t>
                            </m:r>
                          </m:sub>
                        </m:sSub>
                      </m:e>
                    </m:d>
                  </m:oMath>
                </a14:m>
              </a:p>
              <a:p>
                <a:pPr lvl="0"/>
                <a14:m>
                  <m:oMathPara xmlns:m="http://schemas.openxmlformats.org/officeDocument/2006/math">
                    <m:oMathParaPr>
                      <m:jc m:val="center"/>
                    </m:oMathParaPr>
                    <m:oMath>
                      <m:m>
                        <m:mPr>
                          <m:baseJc m:val="center"/>
                          <m:plcHide m:val="on"/>
                          <m:mcs>
                            <m:mc>
                              <m:mcPr>
                                <m:mcJc m:val="right"/>
                                <m:count m:val="1"/>
                              </m:mcPr>
                            </m:mc>
                          </m:mcs>
                        </m:mPr>
                        <m:mr>
                          <m:e>
                            <m:r>
                              <m:t>ψ</m:t>
                            </m:r>
                            <m:d>
                              <m:dPr>
                                <m:begChr m:val="("/>
                                <m:endChr m:val=")"/>
                                <m:sepChr m:val=""/>
                                <m:grow/>
                              </m:dPr>
                              <m:e>
                                <m:r>
                                  <m:t>W</m:t>
                                </m:r>
                                <m:r>
                                  <m:rPr>
                                    <m:sty m:val="p"/>
                                  </m:rPr>
                                  <m:t>,</m:t>
                                </m:r>
                                <m:r>
                                  <m:t>θ</m:t>
                                </m:r>
                                <m:r>
                                  <m:rPr>
                                    <m:sty m:val="p"/>
                                  </m:rPr>
                                  <m:t>,</m:t>
                                </m:r>
                                <m:acc>
                                  <m:accPr>
                                    <m:chr m:val="̂"/>
                                  </m:accPr>
                                  <m:e>
                                    <m:r>
                                      <m:t>η</m:t>
                                    </m:r>
                                  </m:e>
                                </m:acc>
                              </m:e>
                            </m:d>
                            <m:box>
                              <m:boxPr>
                                <m:opEmu m:val="on"/>
                              </m:boxPr>
                              <m:e>
                                <m:r>
                                  <m:rPr>
                                    <m:sty m:val="p"/>
                                  </m:rPr>
                                  <m:t>:=</m:t>
                                </m:r>
                              </m:e>
                            </m:box>
                            <m:d>
                              <m:dPr>
                                <m:begChr m:val="("/>
                                <m:endChr m:val=")"/>
                                <m:sepChr m:val=""/>
                                <m:grow/>
                              </m:dPr>
                              <m:e>
                                <m:r>
                                  <m:t>Y</m:t>
                                </m:r>
                                <m:r>
                                  <m:rPr>
                                    <m:sty m:val="p"/>
                                  </m:rPr>
                                  <m:t>−</m:t>
                                </m:r>
                                <m:acc>
                                  <m:accPr>
                                    <m:chr m:val="̂"/>
                                  </m:accPr>
                                  <m:e>
                                    <m:r>
                                      <m:t>l</m:t>
                                    </m:r>
                                  </m:e>
                                </m:acc>
                                <m:d>
                                  <m:dPr>
                                    <m:begChr m:val="("/>
                                    <m:endChr m:val=")"/>
                                    <m:sepChr m:val=""/>
                                    <m:grow/>
                                  </m:dPr>
                                  <m:e>
                                    <m:r>
                                      <m:t>X</m:t>
                                    </m:r>
                                  </m:e>
                                </m:d>
                                <m:r>
                                  <m:rPr>
                                    <m:sty m:val="p"/>
                                  </m:rPr>
                                  <m:t>−</m:t>
                                </m:r>
                                <m:r>
                                  <m:t>θ</m:t>
                                </m:r>
                                <m:d>
                                  <m:dPr>
                                    <m:begChr m:val="("/>
                                    <m:endChr m:val=")"/>
                                    <m:sepChr m:val=""/>
                                    <m:grow/>
                                  </m:dPr>
                                  <m:e>
                                    <m:r>
                                      <m:t>D</m:t>
                                    </m:r>
                                    <m:r>
                                      <m:rPr>
                                        <m:sty m:val="p"/>
                                      </m:rPr>
                                      <m:t>−</m:t>
                                    </m:r>
                                    <m:acc>
                                      <m:accPr>
                                        <m:chr m:val="̂"/>
                                      </m:accPr>
                                      <m:e>
                                        <m:r>
                                          <m:t>m</m:t>
                                        </m:r>
                                      </m:e>
                                    </m:acc>
                                    <m:d>
                                      <m:dPr>
                                        <m:begChr m:val="("/>
                                        <m:endChr m:val=")"/>
                                        <m:sepChr m:val=""/>
                                        <m:grow/>
                                      </m:dPr>
                                      <m:e>
                                        <m:r>
                                          <m:t>X</m:t>
                                        </m:r>
                                      </m:e>
                                    </m:d>
                                  </m:e>
                                </m:d>
                              </m:e>
                            </m:d>
                            <m:r>
                              <m:rPr>
                                <m:sty m:val="p"/>
                              </m:rPr>
                              <m:t>⋅</m:t>
                            </m:r>
                            <m:d>
                              <m:dPr>
                                <m:begChr m:val="("/>
                                <m:endChr m:val=")"/>
                                <m:sepChr m:val=""/>
                                <m:grow/>
                              </m:dPr>
                              <m:e>
                                <m:r>
                                  <m:t>D</m:t>
                                </m:r>
                                <m:r>
                                  <m:rPr>
                                    <m:sty m:val="p"/>
                                  </m:rPr>
                                  <m:t>−</m:t>
                                </m:r>
                                <m:acc>
                                  <m:accPr>
                                    <m:chr m:val="̂"/>
                                  </m:accPr>
                                  <m:e>
                                    <m:r>
                                      <m:t>m</m:t>
                                    </m:r>
                                  </m:e>
                                </m:acc>
                                <m:d>
                                  <m:dPr>
                                    <m:begChr m:val="("/>
                                    <m:endChr m:val=")"/>
                                    <m:sepChr m:val=""/>
                                    <m:grow/>
                                  </m:dPr>
                                  <m:e>
                                    <m:r>
                                      <m:t>X</m:t>
                                    </m:r>
                                  </m:e>
                                </m:d>
                              </m:e>
                            </m:d>
                          </m:e>
                        </m:mr>
                      </m:m>
                    </m:oMath>
                  </m:oMathPara>
                </a14:m>
              </a:p>
              <a:p>
                <a:pPr lvl="0"/>
                <a:r>
                  <a:rPr/>
                  <a:t>Compute the estimate as the solution of</a:t>
                </a:r>
              </a:p>
              <a:p>
                <a:pPr lvl="0"/>
                <a14:m>
                  <m:oMathPara xmlns:m="http://schemas.openxmlformats.org/officeDocument/2006/math">
                    <m:oMathParaPr>
                      <m:jc m:val="center"/>
                    </m:oMathParaPr>
                    <m:oMath>
                      <m:r>
                        <m:t>0</m:t>
                      </m:r>
                      <m:r>
                        <m:rPr>
                          <m:sty m:val="p"/>
                        </m:rPr>
                        <m:t>=</m:t>
                      </m:r>
                      <m:f>
                        <m:fPr>
                          <m:type m:val="bar"/>
                        </m:fPr>
                        <m:num>
                          <m:r>
                            <m:t>1</m:t>
                          </m:r>
                        </m:num>
                        <m:den>
                          <m:r>
                            <m:t>n</m:t>
                          </m:r>
                        </m:den>
                      </m:f>
                      <m:nary>
                        <m:naryPr>
                          <m:chr m:val="∑"/>
                          <m:limLoc m:val="undOvr"/>
                          <m:subHide m:val="off"/>
                          <m:supHide m:val="off"/>
                        </m:naryPr>
                        <m:sub>
                          <m:r>
                            <m:t>i</m:t>
                          </m:r>
                          <m:r>
                            <m:rPr>
                              <m:sty m:val="p"/>
                            </m:rPr>
                            <m:t>=</m:t>
                          </m:r>
                          <m:r>
                            <m:t>1</m:t>
                          </m:r>
                        </m:sub>
                        <m:sup>
                          <m:r>
                            <m:t>n</m:t>
                          </m:r>
                        </m:sup>
                        <m:e>
                          <m:r>
                            <m:t>ψ</m:t>
                          </m:r>
                        </m:e>
                      </m:nary>
                      <m:d>
                        <m:dPr>
                          <m:begChr m:val="("/>
                          <m:endChr m:val=")"/>
                          <m:sepChr m:val=""/>
                          <m:grow/>
                        </m:dPr>
                        <m:e>
                          <m:r>
                            <m:t>W</m:t>
                          </m:r>
                          <m:r>
                            <m:rPr>
                              <m:sty m:val="p"/>
                            </m:rPr>
                            <m:t>,</m:t>
                          </m:r>
                          <m:acc>
                            <m:accPr>
                              <m:chr m:val="̂"/>
                            </m:accPr>
                            <m:e>
                              <m:r>
                                <m:t>θ</m:t>
                              </m:r>
                            </m:e>
                          </m:acc>
                          <m:r>
                            <m:rPr>
                              <m:sty m:val="p"/>
                            </m:rPr>
                            <m:t>,</m:t>
                          </m:r>
                          <m:sSub>
                            <m:e>
                              <m:acc>
                                <m:accPr>
                                  <m:chr m:val="̂"/>
                                </m:accPr>
                                <m:e>
                                  <m:r>
                                    <m:t>η</m:t>
                                  </m:r>
                                </m:e>
                              </m:acc>
                            </m:e>
                            <m:sub>
                              <m:r>
                                <m:t>0</m:t>
                              </m:r>
                            </m:sub>
                          </m:sSub>
                        </m:e>
                      </m:d>
                    </m:oMath>
                  </m:oMathPara>
                </a14:m>
              </a:p>
              <a:p>
                <a:pPr lvl="0" indent="0" marL="0">
                  <a:spcBef>
                    <a:spcPts val="3000"/>
                  </a:spcBef>
                  <a:buNone/>
                </a:pPr>
                <a:r>
                  <a:rPr b="1"/>
                  <a:t>Motivating Example - DML</a:t>
                </a:r>
              </a:p>
              <a:p>
                <a:pPr lvl="0" indent="0" marL="0">
                  <a:buNone/>
                </a:pPr>
              </a:p>
              <a:p>
                <a:pPr lvl="0"/>
                <a:r>
                  <a:rPr/>
                  <a:t>Assumptions for the nuisance elements (see Chernozhukov et al. (2018))</a:t>
                </a:r>
              </a:p>
              <a:p>
                <a:pPr lvl="0"/>
                <a14:m>
                  <m:oMathPara xmlns:m="http://schemas.openxmlformats.org/officeDocument/2006/math">
                    <m:oMathParaPr>
                      <m:jc m:val="center"/>
                    </m:oMathParaPr>
                    <m:oMath>
                      <m:m>
                        <m:mPr>
                          <m:baseJc m:val="center"/>
                          <m:plcHide m:val="on"/>
                          <m:mcs>
                            <m:mc>
                              <m:mcPr>
                                <m:mcJc m:val="right"/>
                                <m:count m:val="1"/>
                              </m:mcPr>
                            </m:mc>
                          </m:mcs>
                        </m:mPr>
                        <m:mr>
                          <m:e>
                            <m:r>
                              <m:rPr>
                                <m:sty m:val="p"/>
                              </m:rPr>
                              <m:t>∥</m:t>
                            </m:r>
                            <m:acc>
                              <m:accPr>
                                <m:chr m:val="̂"/>
                              </m:accPr>
                              <m:e>
                                <m:r>
                                  <m:t>m</m:t>
                                </m:r>
                              </m:e>
                            </m:acc>
                            <m:d>
                              <m:dPr>
                                <m:begChr m:val="("/>
                                <m:endChr m:val=")"/>
                                <m:sepChr m:val=""/>
                                <m:grow/>
                              </m:dPr>
                              <m:e>
                                <m:r>
                                  <m:t>X</m:t>
                                </m:r>
                              </m:e>
                            </m:d>
                            <m:r>
                              <m:rPr>
                                <m:sty m:val="p"/>
                              </m:rPr>
                              <m:t>−</m:t>
                            </m:r>
                            <m:sSub>
                              <m:e>
                                <m:r>
                                  <m:t>m</m:t>
                                </m:r>
                              </m:e>
                              <m:sub>
                                <m:r>
                                  <m:t>0</m:t>
                                </m:r>
                              </m:sub>
                            </m:sSub>
                            <m:d>
                              <m:dPr>
                                <m:begChr m:val="("/>
                                <m:endChr m:val=")"/>
                                <m:sepChr m:val=""/>
                                <m:grow/>
                              </m:dPr>
                              <m:e>
                                <m:r>
                                  <m:t>X</m:t>
                                </m:r>
                              </m:e>
                            </m:d>
                            <m:sSub>
                              <m:e>
                                <m:r>
                                  <m:rPr>
                                    <m:sty m:val="p"/>
                                  </m:rPr>
                                  <m:t>∥</m:t>
                                </m:r>
                              </m:e>
                              <m:sub>
                                <m:r>
                                  <m:t>P</m:t>
                                </m:r>
                                <m:r>
                                  <m:rPr>
                                    <m:sty m:val="p"/>
                                  </m:rPr>
                                  <m:t>,</m:t>
                                </m:r>
                                <m:r>
                                  <m:t>2</m:t>
                                </m:r>
                              </m:sub>
                            </m:sSub>
                            <m:r>
                              <m:rPr>
                                <m:sty m:val="p"/>
                              </m:rPr>
                              <m:t>⋅</m:t>
                            </m:r>
                            <m:d>
                              <m:dPr>
                                <m:begChr m:val="("/>
                                <m:endChr m:val=")"/>
                                <m:sepChr m:val=""/>
                                <m:grow/>
                              </m:dPr>
                              <m:e>
                                <m:r>
                                  <m:rPr>
                                    <m:sty m:val="p"/>
                                  </m:rPr>
                                  <m:t>∥</m:t>
                                </m:r>
                                <m:acc>
                                  <m:accPr>
                                    <m:chr m:val="̂"/>
                                  </m:accPr>
                                  <m:e>
                                    <m:r>
                                      <m:t>m</m:t>
                                    </m:r>
                                  </m:e>
                                </m:acc>
                                <m:d>
                                  <m:dPr>
                                    <m:begChr m:val="("/>
                                    <m:endChr m:val=")"/>
                                    <m:sepChr m:val=""/>
                                    <m:grow/>
                                  </m:dPr>
                                  <m:e>
                                    <m:r>
                                      <m:t>X</m:t>
                                    </m:r>
                                  </m:e>
                                </m:d>
                                <m:r>
                                  <m:rPr>
                                    <m:sty m:val="p"/>
                                  </m:rPr>
                                  <m:t>−</m:t>
                                </m:r>
                                <m:sSub>
                                  <m:e>
                                    <m:r>
                                      <m:t>m</m:t>
                                    </m:r>
                                  </m:e>
                                  <m:sub>
                                    <m:r>
                                      <m:t>0</m:t>
                                    </m:r>
                                  </m:sub>
                                </m:sSub>
                                <m:d>
                                  <m:dPr>
                                    <m:begChr m:val="("/>
                                    <m:endChr m:val=")"/>
                                    <m:sepChr m:val=""/>
                                    <m:grow/>
                                  </m:dPr>
                                  <m:e>
                                    <m:r>
                                      <m:t>X</m:t>
                                    </m:r>
                                  </m:e>
                                </m:d>
                                <m:sSub>
                                  <m:e>
                                    <m:r>
                                      <m:rPr>
                                        <m:sty m:val="p"/>
                                      </m:rPr>
                                      <m:t>∥</m:t>
                                    </m:r>
                                  </m:e>
                                  <m:sub>
                                    <m:r>
                                      <m:t>P</m:t>
                                    </m:r>
                                    <m:r>
                                      <m:rPr>
                                        <m:sty m:val="p"/>
                                      </m:rPr>
                                      <m:t>,</m:t>
                                    </m:r>
                                    <m:r>
                                      <m:t>2</m:t>
                                    </m:r>
                                  </m:sub>
                                </m:sSub>
                                <m:r>
                                  <m:rPr>
                                    <m:sty m:val="p"/>
                                  </m:rPr>
                                  <m:t>+</m:t>
                                </m:r>
                                <m:r>
                                  <m:rPr>
                                    <m:sty m:val="p"/>
                                  </m:rPr>
                                  <m:t>∥</m:t>
                                </m:r>
                                <m:acc>
                                  <m:accPr>
                                    <m:chr m:val="̂"/>
                                  </m:accPr>
                                  <m:e>
                                    <m:r>
                                      <m:t>l</m:t>
                                    </m:r>
                                  </m:e>
                                </m:acc>
                                <m:d>
                                  <m:dPr>
                                    <m:begChr m:val="("/>
                                    <m:endChr m:val=")"/>
                                    <m:sepChr m:val=""/>
                                    <m:grow/>
                                  </m:dPr>
                                  <m:e>
                                    <m:r>
                                      <m:t>X</m:t>
                                    </m:r>
                                  </m:e>
                                </m:d>
                                <m:r>
                                  <m:rPr>
                                    <m:sty m:val="p"/>
                                  </m:rPr>
                                  <m:t>−</m:t>
                                </m:r>
                                <m:sSub>
                                  <m:e>
                                    <m:r>
                                      <m:t>l</m:t>
                                    </m:r>
                                  </m:e>
                                  <m:sub>
                                    <m:r>
                                      <m:t>0</m:t>
                                    </m:r>
                                  </m:sub>
                                </m:sSub>
                                <m:d>
                                  <m:dPr>
                                    <m:begChr m:val="("/>
                                    <m:endChr m:val=")"/>
                                    <m:sepChr m:val=""/>
                                    <m:grow/>
                                  </m:dPr>
                                  <m:e>
                                    <m:r>
                                      <m:t>X</m:t>
                                    </m:r>
                                  </m:e>
                                </m:d>
                                <m:sSub>
                                  <m:e>
                                    <m:r>
                                      <m:rPr>
                                        <m:sty m:val="p"/>
                                      </m:rPr>
                                      <m:t>∥</m:t>
                                    </m:r>
                                  </m:e>
                                  <m:sub>
                                    <m:r>
                                      <m:t>P</m:t>
                                    </m:r>
                                    <m:r>
                                      <m:rPr>
                                        <m:sty m:val="p"/>
                                      </m:rPr>
                                      <m:t>,</m:t>
                                    </m:r>
                                    <m:r>
                                      <m:t>2</m:t>
                                    </m:r>
                                  </m:sub>
                                </m:sSub>
                              </m:e>
                            </m:d>
                            <m:r>
                              <m:rPr>
                                <m:sty m:val="p"/>
                              </m:rPr>
                              <m:t>≤</m:t>
                            </m:r>
                            <m:sSub>
                              <m:e>
                                <m:r>
                                  <m:t>δ</m:t>
                                </m:r>
                              </m:e>
                              <m:sub>
                                <m:r>
                                  <m:t>n</m:t>
                                </m:r>
                              </m:sub>
                            </m:sSub>
                            <m:sSup>
                              <m:e>
                                <m:r>
                                  <m:t>n</m:t>
                                </m:r>
                              </m:e>
                              <m:sup>
                                <m:r>
                                  <m:rPr>
                                    <m:sty m:val="p"/>
                                  </m:rPr>
                                  <m:t>−</m:t>
                                </m:r>
                                <m:r>
                                  <m:t>1</m:t>
                                </m:r>
                                <m:r>
                                  <m:rPr>
                                    <m:sty m:val="p"/>
                                  </m:rPr>
                                  <m:t>/</m:t>
                                </m:r>
                                <m:r>
                                  <m:t>2</m:t>
                                </m:r>
                              </m:sup>
                            </m:sSup>
                            <m:r>
                              <m:rPr>
                                <m:sty m:val="p"/>
                              </m:rPr>
                              <m:t>.</m:t>
                            </m:r>
                          </m:e>
                        </m:mr>
                      </m:m>
                    </m:oMath>
                  </m:oMathPara>
                </a14:m>
              </a:p>
              <a:p>
                <a:pPr lvl="0"/>
                <a:r>
                  <a:rPr/>
                  <a:t>Under some regularity conditions the estimator </a:t>
                </a:r>
                <a14:m>
                  <m:oMath xmlns:m="http://schemas.openxmlformats.org/officeDocument/2006/math">
                    <m:acc>
                      <m:accPr>
                        <m:chr m:val="̂"/>
                      </m:accPr>
                      <m:e>
                        <m:r>
                          <m:t>θ</m:t>
                        </m:r>
                      </m:e>
                    </m:acc>
                  </m:oMath>
                </a14:m>
                <a:r>
                  <a:rPr/>
                  <a:t> concentrates in </a:t>
                </a:r>
                <a14:m>
                  <m:oMath xmlns:m="http://schemas.openxmlformats.org/officeDocument/2006/math">
                    <m:r>
                      <m:t>1</m:t>
                    </m:r>
                    <m:r>
                      <m:rPr>
                        <m:sty m:val="p"/>
                      </m:rPr>
                      <m:t>/</m:t>
                    </m:r>
                    <m:rad>
                      <m:radPr>
                        <m:degHide m:val="on"/>
                      </m:radPr>
                      <m:deg/>
                      <m:e>
                        <m:r>
                          <m:t>n</m:t>
                        </m:r>
                      </m:e>
                    </m:rad>
                  </m:oMath>
                </a14:m>
                <a:r>
                  <a:rPr/>
                  <a:t>-neighborhood of </a:t>
                </a:r>
                <a14:m>
                  <m:oMath xmlns:m="http://schemas.openxmlformats.org/officeDocument/2006/math">
                    <m:sSub>
                      <m:e>
                        <m:r>
                          <m:t>θ</m:t>
                        </m:r>
                      </m:e>
                      <m:sub>
                        <m:r>
                          <m:t>0</m:t>
                        </m:r>
                      </m:sub>
                    </m:sSub>
                  </m:oMath>
                </a14:m>
                <a:r>
                  <a:rPr/>
                  <a:t> and</a:t>
                </a:r>
              </a:p>
              <a:p>
                <a:pPr lvl="0"/>
                <a14:m>
                  <m:oMathPara xmlns:m="http://schemas.openxmlformats.org/officeDocument/2006/math">
                    <m:oMathParaPr>
                      <m:jc m:val="center"/>
                    </m:oMathParaPr>
                    <m:oMath>
                      <m:rad>
                        <m:radPr>
                          <m:degHide m:val="on"/>
                        </m:radPr>
                        <m:deg/>
                        <m:e>
                          <m:r>
                            <m:t>n</m:t>
                          </m:r>
                        </m:e>
                      </m:rad>
                      <m:d>
                        <m:dPr>
                          <m:begChr m:val="("/>
                          <m:endChr m:val=")"/>
                          <m:sepChr m:val=""/>
                          <m:grow/>
                        </m:dPr>
                        <m:e>
                          <m:acc>
                            <m:accPr>
                              <m:chr m:val="̂"/>
                            </m:accPr>
                            <m:e>
                              <m:r>
                                <m:t>θ</m:t>
                              </m:r>
                            </m:e>
                          </m:acc>
                          <m:r>
                            <m:rPr>
                              <m:sty m:val="p"/>
                            </m:rPr>
                            <m:t>−</m:t>
                          </m:r>
                          <m:sSub>
                            <m:e>
                              <m:r>
                                <m:t>θ</m:t>
                              </m:r>
                            </m:e>
                            <m:sub>
                              <m:r>
                                <m:t>0</m:t>
                              </m:r>
                            </m:sub>
                          </m:sSub>
                        </m:e>
                      </m:d>
                      <m:r>
                        <m:rPr>
                          <m:sty m:val="p"/>
                        </m:rPr>
                        <m:t>→</m:t>
                      </m:r>
                      <m:r>
                        <m:rPr>
                          <m:sty m:val="p"/>
                          <m:scr m:val="script"/>
                        </m:rPr>
                        <m:t>N</m:t>
                      </m:r>
                      <m:d>
                        <m:dPr>
                          <m:begChr m:val="("/>
                          <m:endChr m:val=")"/>
                          <m:sepChr m:val=""/>
                          <m:grow/>
                        </m:dPr>
                        <m:e>
                          <m:r>
                            <m:t>0</m:t>
                          </m:r>
                          <m:r>
                            <m:rPr>
                              <m:sty m:val="p"/>
                            </m:rPr>
                            <m:t>,</m:t>
                          </m:r>
                          <m:sSup>
                            <m:e>
                              <m:r>
                                <m:t>σ</m:t>
                              </m:r>
                            </m:e>
                            <m:sup>
                              <m:r>
                                <m:t>2</m:t>
                              </m:r>
                            </m:sup>
                          </m:sSup>
                        </m:e>
                      </m:d>
                    </m:oMath>
                  </m:oMathPara>
                </a14:m>
              </a:p>
              <a:p>
                <a:pPr lvl="0" indent="0" marL="0">
                  <a:buNone/>
                </a:pPr>
                <a:r>
                  <a:rPr/>
                  <a:t>. . .</a:t>
                </a:r>
              </a:p>
              <a:p>
                <a:pPr lvl="0" indent="0" marL="0">
                  <a:buNone/>
                </a:pPr>
                <a14:m>
                  <m:oMath xmlns:m="http://schemas.openxmlformats.org/officeDocument/2006/math">
                    <m:r>
                      <m:rPr>
                        <m:sty m:val="p"/>
                      </m:rPr>
                      <m:t>⇒</m:t>
                    </m:r>
                  </m:oMath>
                </a14:m>
                <a:r>
                  <a:rPr/>
                  <a:t> simple approach to control for confounders, </a:t>
                </a:r>
                <a:r>
                  <a:rPr i="1"/>
                  <a:t>if they can be used for ML models!</a:t>
                </a:r>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DoubleML Deep</a:t>
            </a:r>
          </a:p>
        </p:txBody>
      </p:sp>
      <p:sp>
        <p:nvSpPr>
          <p:cNvPr id="3" name="Content Placeholder 2"/>
          <p:cNvSpPr>
            <a:spLocks noGrp="1"/>
          </p:cNvSpPr>
          <p:nvPr>
            <p:ph idx="1"/>
          </p:nvPr>
        </p:nvSpPr>
        <p:spPr/>
        <p:txBody>
          <a:bodyPr/>
          <a:lstStyle/>
          <a:p>
            <a:pPr lvl="0" indent="0" marL="0">
              <a:spcBef>
                <a:spcPts val="3000"/>
              </a:spcBef>
              <a:buNone/>
            </a:pPr>
            <a:r>
              <a:rPr b="1"/>
              <a:t>DoubleML Deep - Motivation</a:t>
            </a:r>
          </a:p>
          <a:p>
            <a:pPr lvl="0"/>
            <a:r>
              <a:rPr/>
              <a:t>Use multimodal data (text and images) </a:t>
            </a:r>
            <a:r>
              <a:rPr i="1"/>
              <a:t>additionally</a:t>
            </a:r>
            <a:r>
              <a:rPr/>
              <a:t> to conventional tabular features</a:t>
            </a:r>
          </a:p>
        </p:txBody>
      </p:sp>
      <p:pic>
        <p:nvPicPr>
          <p:cNvPr descr="images/DAG_ProblemSet.PNG" id="0" name="Picture 1"/>
          <p:cNvPicPr>
            <a:picLocks noGrp="1" noChangeAspect="1"/>
          </p:cNvPicPr>
          <p:nvPr/>
        </p:nvPicPr>
        <p:blipFill>
          <a:blip r:embed="rId3"/>
          <a:stretch>
            <a:fillRect/>
          </a:stretch>
        </p:blipFill>
        <p:spPr bwMode="auto">
          <a:xfrm>
            <a:off x="1701800" y="1193800"/>
            <a:ext cx="5740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Examples of directed acyclic graphs (DAGs) with image and text confounding. (a) Direct confounding via image, text and tabular data. (b) Treatment decision is driven by text and images. All backdoor paths are blocked by conditioning on both image and text data.</a:t>
            </a:r>
          </a:p>
        </p:txBody>
      </p:sp>
      <p:sp>
        <p:nvSpPr>
          <p:cNvPr id="3" name="Content Placeholder 2"/>
          <p:cNvSpPr>
            <a:spLocks noGrp="1"/>
          </p:cNvSpPr>
          <p:nvPr>
            <p:ph idx="1"/>
          </p:nvPr>
        </p:nvSpPr>
        <p:spPr/>
        <p:txBody>
          <a:bodyPr/>
          <a:lstStyle/>
          <a:p>
            <a:pPr lvl="0" indent="0" marL="0">
              <a:spcBef>
                <a:spcPts val="3000"/>
              </a:spcBef>
              <a:buNone/>
            </a:pPr>
            <a:r>
              <a:rPr b="1"/>
              <a:t>DoubleML Deep - Module Structure</a:t>
            </a:r>
          </a:p>
        </p:txBody>
      </p:sp>
      <p:pic>
        <p:nvPicPr>
          <p:cNvPr descr="images/dml_deep_arch.PNG" id="0" name="Picture 1"/>
          <p:cNvPicPr>
            <a:picLocks noGrp="1" noChangeAspect="1"/>
          </p:cNvPicPr>
          <p:nvPr/>
        </p:nvPicPr>
        <p:blipFill>
          <a:blip r:embed="rId4"/>
          <a:stretch>
            <a:fillRect/>
          </a:stretch>
        </p:blipFill>
        <p:spPr bwMode="auto">
          <a:xfrm>
            <a:off x="3314700" y="1193800"/>
            <a:ext cx="2527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High-Level PLR Model Architecture. Both nuisance components are trained simultaneously with a combined loss.</a:t>
            </a:r>
          </a:p>
        </p:txBody>
      </p:sp>
      <p:sp>
        <p:nvSpPr>
          <p:cNvPr id="3" name="Content Placeholder 2"/>
          <p:cNvSpPr>
            <a:spLocks noGrp="1"/>
          </p:cNvSpPr>
          <p:nvPr>
            <p:ph idx="1"/>
          </p:nvPr>
        </p:nvSpPr>
        <p:spPr/>
        <p:txBody>
          <a:bodyPr/>
          <a:lstStyle/>
          <a:p>
            <a:pPr lvl="0" indent="0" marL="0">
              <a:spcBef>
                <a:spcPts val="3000"/>
              </a:spcBef>
              <a:buNone/>
            </a:pPr>
            <a:r>
              <a:rPr b="1"/>
              <a:t>DoubleML Deep - Workflow</a:t>
            </a:r>
          </a:p>
        </p:txBody>
      </p:sp>
      <p:pic>
        <p:nvPicPr>
          <p:cNvPr descr="figures/DMLDeep_Workflow2.png" id="0" name="Picture 1"/>
          <p:cNvPicPr>
            <a:picLocks noGrp="1" noChangeAspect="1"/>
          </p:cNvPicPr>
          <p:nvPr/>
        </p:nvPicPr>
        <p:blipFill>
          <a:blip r:embed="rId5"/>
          <a:stretch>
            <a:fillRect/>
          </a:stretch>
        </p:blipFill>
        <p:spPr bwMode="auto">
          <a:xfrm>
            <a:off x="1054100" y="1193800"/>
            <a:ext cx="70485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High-Level Workflow of </a:t>
            </a:r>
            <a:r>
              <a:rPr i="1"/>
              <a:t>DoubleMLDeep</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DoubleML Deep - More Details</a:t>
                </a:r>
              </a:p>
              <a:p>
                <a:pPr lvl="0" indent="0" marL="0">
                  <a:buNone/>
                </a:pPr>
              </a:p>
              <a:p>
                <a:pPr lvl="0"/>
                <a:r>
                  <a:rPr/>
                  <a:t>Use pretrained models for unstructured data e.g. Bert and Beit</a:t>
                </a:r>
              </a:p>
              <a:p>
                <a:pPr lvl="0"/>
                <a:r>
                  <a:rPr/>
                  <a:t>Basic models for tabular data seem sufficient</a:t>
                </a:r>
              </a:p>
              <a:p>
                <a:pPr lvl="0"/>
                <a:r>
                  <a:rPr/>
                  <a:t>Monitor the nuisance losses</a:t>
                </a:r>
              </a:p>
              <a:p>
                <a:pPr lvl="1"/>
                <a14:m>
                  <m:oMath xmlns:m="http://schemas.openxmlformats.org/officeDocument/2006/math">
                    <m:r>
                      <m:rPr>
                        <m:sty m:val="p"/>
                      </m:rPr>
                      <m:t>∥</m:t>
                    </m:r>
                    <m:r>
                      <m:t>Y</m:t>
                    </m:r>
                    <m:r>
                      <m:rPr>
                        <m:sty m:val="p"/>
                      </m:rPr>
                      <m:t>−</m:t>
                    </m:r>
                    <m:acc>
                      <m:accPr>
                        <m:chr m:val="̂"/>
                      </m:accPr>
                      <m:e>
                        <m:r>
                          <m:t>l</m:t>
                        </m:r>
                      </m:e>
                    </m:acc>
                    <m:d>
                      <m:dPr>
                        <m:begChr m:val="("/>
                        <m:endChr m:val=")"/>
                        <m:sepChr m:val=""/>
                        <m:grow/>
                      </m:dPr>
                      <m:e>
                        <m:r>
                          <m:t>X</m:t>
                        </m:r>
                      </m:e>
                    </m:d>
                    <m:sSub>
                      <m:e>
                        <m:r>
                          <m:rPr>
                            <m:sty m:val="p"/>
                          </m:rPr>
                          <m:t>∥</m:t>
                        </m:r>
                      </m:e>
                      <m:sub>
                        <m:r>
                          <m:t>P</m:t>
                        </m:r>
                        <m:r>
                          <m:rPr>
                            <m:sty m:val="p"/>
                          </m:rPr>
                          <m:t>,</m:t>
                        </m:r>
                        <m:r>
                          <m:t>2</m:t>
                        </m:r>
                      </m:sub>
                    </m:sSub>
                    <m:r>
                      <m:rPr>
                        <m:sty m:val="p"/>
                      </m:rPr>
                      <m:t>≤</m:t>
                    </m:r>
                    <m:r>
                      <m:rPr>
                        <m:sty m:val="p"/>
                      </m:rPr>
                      <m:t>∥</m:t>
                    </m:r>
                    <m:sSub>
                      <m:e>
                        <m:r>
                          <m:t>l</m:t>
                        </m:r>
                      </m:e>
                      <m:sub>
                        <m:r>
                          <m:t>0</m:t>
                        </m:r>
                      </m:sub>
                    </m:sSub>
                    <m:d>
                      <m:dPr>
                        <m:begChr m:val="("/>
                        <m:endChr m:val=")"/>
                        <m:sepChr m:val=""/>
                        <m:grow/>
                      </m:dPr>
                      <m:e>
                        <m:r>
                          <m:t>X</m:t>
                        </m:r>
                      </m:e>
                    </m:d>
                    <m:r>
                      <m:rPr>
                        <m:sty m:val="p"/>
                      </m:rPr>
                      <m:t>−</m:t>
                    </m:r>
                    <m:acc>
                      <m:accPr>
                        <m:chr m:val="̂"/>
                      </m:accPr>
                      <m:e>
                        <m:r>
                          <m:t>l</m:t>
                        </m:r>
                      </m:e>
                    </m:acc>
                    <m:d>
                      <m:dPr>
                        <m:begChr m:val="("/>
                        <m:endChr m:val=")"/>
                        <m:sepChr m:val=""/>
                        <m:grow/>
                      </m:dPr>
                      <m:e>
                        <m:r>
                          <m:t>X</m:t>
                        </m:r>
                      </m:e>
                    </m:d>
                    <m:sSub>
                      <m:e>
                        <m:r>
                          <m:rPr>
                            <m:sty m:val="p"/>
                          </m:rPr>
                          <m:t>∥</m:t>
                        </m:r>
                      </m:e>
                      <m:sub>
                        <m:r>
                          <m:t>P</m:t>
                        </m:r>
                        <m:r>
                          <m:rPr>
                            <m:sty m:val="p"/>
                          </m:rPr>
                          <m:t>,</m:t>
                        </m:r>
                        <m:r>
                          <m:t>2</m:t>
                        </m:r>
                      </m:sub>
                    </m:sSub>
                    <m:r>
                      <m:rPr>
                        <m:sty m:val="p"/>
                      </m:rPr>
                      <m:t>+</m:t>
                    </m:r>
                    <m:sSub>
                      <m:e>
                        <m:r>
                          <m:t>σ</m:t>
                        </m:r>
                      </m:e>
                      <m:sub>
                        <m:r>
                          <m:t>ϵ</m:t>
                        </m:r>
                      </m:sub>
                    </m:sSub>
                  </m:oMath>
                </a14:m>
              </a:p>
              <a:p>
                <a:pPr lvl="1"/>
                <a14:m>
                  <m:oMath xmlns:m="http://schemas.openxmlformats.org/officeDocument/2006/math">
                    <m:r>
                      <m:rPr>
                        <m:sty m:val="p"/>
                      </m:rPr>
                      <m:t>∥</m:t>
                    </m:r>
                    <m:r>
                      <m:t>D</m:t>
                    </m:r>
                    <m:r>
                      <m:rPr>
                        <m:sty m:val="p"/>
                      </m:rPr>
                      <m:t>−</m:t>
                    </m:r>
                    <m:acc>
                      <m:accPr>
                        <m:chr m:val="̂"/>
                      </m:accPr>
                      <m:e>
                        <m:r>
                          <m:t>m</m:t>
                        </m:r>
                      </m:e>
                    </m:acc>
                    <m:d>
                      <m:dPr>
                        <m:begChr m:val="("/>
                        <m:endChr m:val=")"/>
                        <m:sepChr m:val=""/>
                        <m:grow/>
                      </m:dPr>
                      <m:e>
                        <m:r>
                          <m:t>X</m:t>
                        </m:r>
                      </m:e>
                    </m:d>
                    <m:sSub>
                      <m:e>
                        <m:r>
                          <m:rPr>
                            <m:sty m:val="p"/>
                          </m:rPr>
                          <m:t>∥</m:t>
                        </m:r>
                      </m:e>
                      <m:sub>
                        <m:r>
                          <m:t>P</m:t>
                        </m:r>
                        <m:r>
                          <m:rPr>
                            <m:sty m:val="p"/>
                          </m:rPr>
                          <m:t>,</m:t>
                        </m:r>
                        <m:r>
                          <m:t>2</m:t>
                        </m:r>
                      </m:sub>
                    </m:sSub>
                    <m:r>
                      <m:rPr>
                        <m:sty m:val="p"/>
                      </m:rPr>
                      <m:t>≤</m:t>
                    </m:r>
                    <m:r>
                      <m:rPr>
                        <m:sty m:val="p"/>
                      </m:rPr>
                      <m:t>∥</m:t>
                    </m:r>
                    <m:sSub>
                      <m:e>
                        <m:r>
                          <m:t>m</m:t>
                        </m:r>
                      </m:e>
                      <m:sub>
                        <m:r>
                          <m:t>0</m:t>
                        </m:r>
                      </m:sub>
                    </m:sSub>
                    <m:d>
                      <m:dPr>
                        <m:begChr m:val="("/>
                        <m:endChr m:val=")"/>
                        <m:sepChr m:val=""/>
                        <m:grow/>
                      </m:dPr>
                      <m:e>
                        <m:r>
                          <m:t>X</m:t>
                        </m:r>
                      </m:e>
                    </m:d>
                    <m:r>
                      <m:rPr>
                        <m:sty m:val="p"/>
                      </m:rPr>
                      <m:t>−</m:t>
                    </m:r>
                    <m:acc>
                      <m:accPr>
                        <m:chr m:val="̂"/>
                      </m:accPr>
                      <m:e>
                        <m:r>
                          <m:t>m</m:t>
                        </m:r>
                      </m:e>
                    </m:acc>
                    <m:d>
                      <m:dPr>
                        <m:begChr m:val="("/>
                        <m:endChr m:val=")"/>
                        <m:sepChr m:val=""/>
                        <m:grow/>
                      </m:dPr>
                      <m:e>
                        <m:r>
                          <m:t>X</m:t>
                        </m:r>
                      </m:e>
                    </m:d>
                    <m:sSub>
                      <m:e>
                        <m:r>
                          <m:rPr>
                            <m:sty m:val="p"/>
                          </m:rPr>
                          <m:t>∥</m:t>
                        </m:r>
                      </m:e>
                      <m:sub>
                        <m:r>
                          <m:t>P</m:t>
                        </m:r>
                        <m:r>
                          <m:rPr>
                            <m:sty m:val="p"/>
                          </m:rPr>
                          <m:t>,</m:t>
                        </m:r>
                        <m:r>
                          <m:t>2</m:t>
                        </m:r>
                      </m:sub>
                    </m:sSub>
                    <m:r>
                      <m:rPr>
                        <m:sty m:val="p"/>
                      </m:rPr>
                      <m:t>+</m:t>
                    </m:r>
                    <m:sSub>
                      <m:e>
                        <m:r>
                          <m:t>σ</m:t>
                        </m:r>
                      </m:e>
                      <m:sub>
                        <m:r>
                          <m:t>ϑ</m:t>
                        </m:r>
                      </m:sub>
                    </m:sSub>
                  </m:oMath>
                </a14:m>
              </a:p>
            </p:txBody>
          </p:sp>
        </mc:Choice>
      </mc:AlternateContent>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Semi-Synthetic Data</a:t>
            </a:r>
          </a:p>
        </p:txBody>
      </p:sp>
      <p:sp>
        <p:nvSpPr>
          <p:cNvPr id="4" name="Text Placeholder 3"/>
          <p:cNvSpPr>
            <a:spLocks noGrp="1"/>
          </p:cNvSpPr>
          <p:nvPr>
            <p:ph idx="2" sz="half" type="body"/>
          </p:nvPr>
        </p:nvSpPr>
        <p:spPr/>
        <p:txBody>
          <a:bodyPr/>
          <a:lstStyle/>
          <a:p>
            <a:pPr lvl="0" indent="0" marL="0">
              <a:spcBef>
                <a:spcPts val="3000"/>
              </a:spcBef>
              <a:buNone/>
            </a:pPr>
            <a:r>
              <a:rPr b="1"/>
              <a:t>Construction of a semi-synthetic dataset</a:t>
            </a:r>
          </a:p>
          <a:p>
            <a:pPr lvl="0"/>
            <a:r>
              <a:rPr/>
              <a:t>The validation of the proposed estimator is a crucial step in ensuring their accuracy and reliability.</a:t>
            </a:r>
          </a:p>
          <a:p>
            <a:pPr lvl="1"/>
            <a:r>
              <a:rPr/>
              <a:t>Performance of causal models is not straightforward to evaluate in real world applications</a:t>
            </a:r>
          </a:p>
          <a:p>
            <a:pPr lvl="1"/>
            <a:r>
              <a:rPr/>
              <a:t>The true causal effect (unlike true labels for predicted outcomes) is not observable</a:t>
            </a:r>
          </a:p>
          <a:p>
            <a:pPr lvl="0" indent="0" marL="0">
              <a:spcBef>
                <a:spcPts val="3000"/>
              </a:spcBef>
              <a:buNone/>
            </a:pPr>
            <a:r>
              <a:rPr b="1"/>
              <a:t>Construction of a semi-synthetic dataset</a:t>
            </a:r>
          </a:p>
          <a:p>
            <a:pPr lvl="0"/>
            <a:r>
              <a:rPr/>
              <a:t>We generate a semi-synthetic dataset with a known treatment effect parameter</a:t>
            </a:r>
          </a:p>
          <a:p>
            <a:pPr lvl="1"/>
            <a:r>
              <a:rPr/>
              <a:t>The confounding operates through labels of the supervised learning tasks</a:t>
            </a:r>
          </a:p>
          <a:p>
            <a:pPr lvl="0"/>
            <a:r>
              <a:rPr/>
              <a:t>We use the following datasets: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Modality</a:t>
                      </a:r>
                    </a:p>
                  </a:txBody>
                  <a:tcPr/>
                </a:tc>
                <a:tc>
                  <a:txBody>
                    <a:bodyPr/>
                    <a:lstStyle/>
                    <a:p>
                      <a:pPr lvl="0" indent="0" marL="0">
                        <a:buNone/>
                      </a:pPr>
                      <a:r>
                        <a:rPr/>
                        <a:t>Dataset used</a:t>
                      </a:r>
                    </a:p>
                  </a:txBody>
                  <a:tcPr/>
                </a:tc>
              </a:tr>
              <a:tr h="0">
                <a:tc>
                  <a:txBody>
                    <a:bodyPr/>
                    <a:lstStyle/>
                    <a:p>
                      <a:pPr lvl="0" indent="0" marL="0">
                        <a:buNone/>
                      </a:pPr>
                      <a:r>
                        <a:rPr/>
                        <a:t>Tabular</a:t>
                      </a:r>
                    </a:p>
                  </a:txBody>
                </a:tc>
                <a:tc>
                  <a:txBody>
                    <a:bodyPr/>
                    <a:lstStyle/>
                    <a:p>
                      <a:pPr lvl="0" indent="0" marL="0">
                        <a:buNone/>
                      </a:pPr>
                      <a:r>
                        <a:rPr/>
                        <a:t>DIAMONDS dataset </a:t>
                      </a:r>
                    </a:p>
                  </a:txBody>
                </a:tc>
              </a:tr>
              <a:tr h="0">
                <a:tc>
                  <a:txBody>
                    <a:bodyPr/>
                    <a:lstStyle/>
                    <a:p>
                      <a:pPr lvl="0" indent="0" marL="0">
                        <a:buNone/>
                      </a:pPr>
                      <a:r>
                        <a:rPr/>
                        <a:t>Text</a:t>
                      </a:r>
                    </a:p>
                  </a:txBody>
                </a:tc>
                <a:tc>
                  <a:txBody>
                    <a:bodyPr/>
                    <a:lstStyle/>
                    <a:p>
                      <a:pPr lvl="0" indent="0" marL="0">
                        <a:buNone/>
                      </a:pPr>
                      <a:r>
                        <a:rPr/>
                        <a:t>IMDB dataset </a:t>
                      </a:r>
                    </a:p>
                  </a:txBody>
                </a:tc>
              </a:tr>
              <a:tr h="0">
                <a:tc>
                  <a:txBody>
                    <a:bodyPr/>
                    <a:lstStyle/>
                    <a:p>
                      <a:pPr lvl="0" indent="0" marL="0">
                        <a:buNone/>
                      </a:pPr>
                      <a:r>
                        <a:rPr/>
                        <a:t>Image</a:t>
                      </a:r>
                    </a:p>
                  </a:txBody>
                </a:tc>
                <a:tc>
                  <a:txBody>
                    <a:bodyPr/>
                    <a:lstStyle/>
                    <a:p>
                      <a:pPr lvl="0" indent="0" marL="0">
                        <a:buNone/>
                      </a:pPr>
                      <a:r>
                        <a:rPr/>
                        <a:t>CIFAR-10 dataset </a:t>
                      </a:r>
                    </a:p>
                  </a:txBody>
                </a:tc>
              </a:tr>
            </a:tbl>
          </a:graphicData>
        </a:graphic>
      </p:graphicFrame>
    </p:spTree>
  </p:cSld>
</p:sld>
</file>

<file path=ppt/slides/slide7.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mc:AlternateContent xmlns:mc="http://schemas.openxmlformats.org/markup-compatibility/2006"><mc:Choice xmlns:a14="http://schemas.microsoft.com/office/drawing/2010/main" Requires="a14"><p:sp><p:nvSpPr><p:cNvPr id="3" name="Content Placeholder 2" /><p:cNvSpPr><a:spLocks noGrp="1" /></p:cNvSpPr><p:nvPr><p:ph idx="1" /></p:nvPr></p:nvSpPr><p:spPr /><p:txBody><a:bodyPr /><a:lstStyle /><a:p><a:pPr lvl="0" indent="0" marL="0"><a:spcBef><a:spcPts val="3000" /></a:spcBef><a:buNone /></a:pPr><a:r><a:rPr b="1" /><a:t>Construction of a semi-synthetic dataset</a:t></a:r></a:p><a:p><a:pPr lvl="0" indent="0" marL="0"><a:buNone /></a:pPr><a:r><a:rPr /><a:t>We generate a semi-synthetic dataset according to the underlying PLR model</a:t></a:r></a:p><a:p><a:pPr lvl="0" indent="0" marL="0"><a:buNone /></a:pPr><a14:m><m:oMathPara xmlns:m="http://schemas.openxmlformats.org/officeDocument/2006/math"><m:oMathParaPr><m:jc m:val="center" /></m:oMathParaPr><m:oMath><m:m><m:mPr><m:baseJc m:val="center" /><m:plcHide m:val="on" /><m:mcs><m:mc><m:mcPr><m:mcJc m:val="right" /><m:count m:val="1" /></m:mcPr></m:mc><m:mc><m:mcPr><m:mcJc m:val="left" /><m:count m:val="1" /></m:mcPr></m:mc></m:mcs></m:mPr><m:mr><m:e><m:r><m:t>Y</m:t></m:r></m:e><m:e><m:r><m:rPr><m:sty m:val="p" /></m:rPr><m:t>=</m:t></m:r><m:sSub><m:e><m:r><m:t>θ</m:t></m:r></m:e><m:sub><m:r><m:t>0</m:t></m:r></m:sub></m:sSub><m:r><m:t>D</m:t></m:r><m:r><m:rPr><m:sty m:val="p" /></m:rPr><m:t>+</m:t></m:r><m:sSub><m:e><m:acc><m:accPr><m:chr m:val="̃" /></m:accPr><m:e><m:r><m:t>g</m:t></m:r></m:e></m:acc></m:e><m:sub><m:r><m:t>0</m:t></m:r></m:sub></m:sSub><m:d><m:dPr><m:begChr m:val="(" /><m:endChr m:val=")" /><m:sepChr m:val="" /><m:grow /></m:dPr><m:e><m:acc><m:accPr><m:chr m:val="̃" /></m:accPr><m:e><m:r><m:t>X</m:t></m:r></m:e></m:acc></m:e></m:d><m:r><m:rPr><m:sty m:val="p" /></m:rPr><m:t>+</m:t></m:r><m:r><m:t>ε</m:t></m:r><m:r><m:rPr><m:sty m:val="p" /></m:rPr><m:t>,</m:t></m:r></m:e></m:mr><m:mr><m:e><m:r><m:t>D</m:t></m:r></m:e><m:e><m:r><m:rPr><m:sty m:val="p" /></m:rPr><m:t>=</m:t></m:r><m:sSub><m:e><m:acc><m:accPr><m:chr m:val="̃" /></m:accPr><m:e><m:r><m:t>m</m:t></m:r></m:e></m:acc></m:e><m:sub><m:r><m:t>0</m:t></m:r></m:sub></m:sSub><m:d><m:dPr><m:begChr m:val="(" /><m:endChr m:val=")" /><m:sepChr m:val="" /><m:grow /></m:dPr><m:e><m:acc><m:accPr><m:chr m:val="̃" /></m:accPr><m:e><m:r><m:t>X</m:t></m:r></m:e></m:acc></m:e></m:d><m:r><m:rPr><m:sty m:val="p" /></m:rPr><m:t>+</m:t></m:r><m:r><m:t>ϑ</m:t></m:r><m:r><m:rPr><m:sty m:val="p" /></m:rPr><m:t>,</m:t></m:r></m:e></m:mr></m:m></m:oMath></m:oMathPara></a14:m></a:p><a:p><a:pPr lvl="0" indent="0" marL="0"><a:buNone /></a:pPr><a:r><a:rPr /><a:t>where </a:t></a:r><a14:m><m:oMath xmlns:m="http://schemas.openxmlformats.org/officeDocument/2006/math"><m:acc><m:accPr><m:chr m:val="̃" /></m:accPr><m:e><m:r><m:t>X</m:t></m:r></m:e></m:acc><m:r><m:rPr><m:sty m:val="p" /></m:rPr><m:t>=</m:t></m:r><m:d><m:dPr><m:begChr m:val="(" /><m:endChr m:val=")" /><m:sepChr m:val="" /><m:grow /></m:dPr><m:e><m:sSub><m:e><m:acc><m:accPr><m:chr m:val="̃" /></m:accPr><m:e><m:r><m:t>X</m:t></m:r></m:e></m:acc></m:e><m:sub><m:r><m:rPr><m:nor /><m:sty m:val="p" /></m:rPr><m:t>tab</m:t></m:r></m:sub></m:sSub><m:r><m:rPr><m:sty m:val="p" /></m:rPr><m:t>,</m:t></m:r><m:sSub><m:e><m:acc><m:accPr><m:chr m:val="̃" /></m:accPr><m:e><m:r><m:t>X</m:t></m:r></m:e></m:acc></m:e><m:sub><m:r><m:rPr><m:nor /><m:sty m:val="p" /></m:rPr><m:t>txt</m:t></m:r></m:sub></m:sSub><m:r><m:rPr><m:sty m:val="p" /></m:rPr><m:t>,</m:t></m:r><m:sSub><m:e><m:acc><m:accPr><m:chr m:val="̃" /></m:accPr><m:e><m:r><m:t>X</m:t></m:r></m:e></m:acc></m:e><m:sub><m:r><m:rPr><m:nor /><m:sty m:val="p" /></m:rPr><m:t>img</m:t></m:r></m:sub></m:sSub></m:e></m:d></m:oMath></a14:m><a:r><a:rPr /><a:t> with the following additive structure</a:t></a:r></a:p><a:p><a:pPr lvl="0" indent="0" marL="0"><a:buNone /></a:pPr><a14:m><m:oMathPara xmlns:m="http://schemas.openxmlformats.org/officeDocument/2006/math"><m:oMathParaPr><m:jc m:val="center" /></m:oMathParaPr><m:oMath><m:m><m:mPr><m:baseJc m:val="center" /><m:plcHide m:val="on" /><m:mcs><m:mc><m:mcPr><m:mcJc m:val="right" /><m:count m:val="1" /></m:mcPr></m:mc><m:mc><m:mcPr><m:mcJc m:val="left" /><m:count m:val="1" /></m:mcPr></m:mc></m:mcs></m:mPr><m:mr><m:e><m:sSub><m:e><m:acc><m:accPr><m:chr m:val="̃" /></m:accPr><m:e><m:r><m:t>g</m:t></m:r></m:e></m:acc></m:e><m:sub><m:r><m:t>0</m:t></m:r></m:sub></m:sSub><m:d><m:dPr><m:begChr m:val="(" /><m:endChr m:val=")" /><m:sepChr m:val="" /><m:grow /></m:dPr><m:e><m:acc><m:accPr><m:chr m:val="̃" /></m:accPr><m:e><m:r><m:t>X</m:t></m:r></m:e></m:acc></m:e></m:d></m:e><m:e><m:r><m:rPr><m:sty m:val="p" /></m:rPr><m:t>=</m:t></m:r><m:nary><m:naryPr><m:chr m:val="∑" /><m:limLoc m:val="undOvr" /><m:subHide m:val="off" /><m:supHide m:val="on" /></m:naryPr><m:sub><m:r><m:rPr><m:nor /><m:sty m:val="p" /></m:rPr><m:t>mod</m:t></m:r><m:r><m:rPr><m:sty m:val="p" /></m:rPr><m:t>∈</m:t></m:r><m:r><m:rPr><m:sty m:val="p" /></m:rPr><m:t>{</m:t></m:r><m:r><m:rPr><m:nor /><m:sty m:val="p" /></m:rPr><m:t>tab</m:t></m:r><m:r><m:rPr><m:sty m:val="p" /></m:rPr><m:t>,</m:t></m:r><m:r><m:rPr><m:nor /><m:sty m:val="p" /></m:rPr><m:t>txt</m:t></m:r><m:r><m:rPr><m:sty m:val="p" /></m:rPr><m:t>,</m:t></m:r><m:r><m:rPr><m:nor /><m:sty m:val="p" /></m:rPr><m:t>img</m:t></m:r><m:r><m:rPr><m:sty m:val="p" /></m:rPr><m:t>}</m:t></m:r></m:sub><m:sup><m:r><m:t>​</m:t></m:r></m:sup><m:e><m:sSub><m:e><m:acc><m:accPr><m:chr m:val="̃" /></m:accPr><m:e><m:r><m:t>g</m:t></m:r></m:e></m:acc></m:e><m:sub><m:r><m:rPr><m:nor /><m:sty m:val="p" /></m:rPr><m:t>mod</m:t></m:r></m:sub></m:sSub></m:e></m:nary><m:d><m:dPr><m:begChr m:val="(" /><m:endChr m:val=")" /><m:sepChr m:val="" /><m:grow /></m:dPr><m:e><m:sSub><m:e><m:acc><m:accPr><m:chr m:val="̃" /></m:accPr><m:e><m:r><m:t>X</m:t></m:r></m:e></m:acc></m:e><m:sub><m:r><m:rPr><m:nor /><m:sty m:val="p" /></m:rPr><m:t>mod</m:t></m:r></m:sub></m:sSub></m:e></m:d></m:e></m:mr><m:mr><m:e><m:sSub><m:e><m:acc><m:accPr><m:chr m:val="̃" /></m:accPr><m:e><m:r><m:t>m</m:t></m:r></m:e></m:acc></m:e><m:sub><m:r><m:t>0</m:t></m:r></m:sub></m:sSub><m:d><m:dPr><m:begChr m:val="(" /><m:endChr m:val=")" /><m:sepChr m:val="" /><m:grow /></m:dPr><m:e><m:acc><m:accPr><m:chr m:val="̃" /></m:accPr><m:e><m:r><m:t>X</m:t></m:r></m:e></m:acc></m:e></m:d></m:e><m:e><m:r><m:rPr><m:sty m:val="p" /></m:rPr><m:t>=</m:t></m:r><m:nary><m:naryPr><m:chr m:val="∑" /><m:limLoc m:val="undOvr" /><m:subHide m:val="off" /><m:supHide m:val="on" /></m:naryPr><m:sub><m:r><m:rPr><m:nor /><m:sty m:val="p" /></m:rPr><m:t>mod</m:t></m:r><m:r><m:rPr><m:sty m:val="p" /></m:rPr><m:t>∈</m:t></m:r><m:r><m:rPr><m:sty m:val="p" /></m:rPr><m:t>{</m:t></m:r><m:r><m:rPr><m:nor /><m:sty m:val="p" /></m:rPr><m:t>tab</m:t></m:r><m:r><m:rPr><m:sty m:val="p" /></m:rPr><m:t>,</m:t></m:r><m:r><m:rPr><m:nor /><m:sty m:val="p" /></m:rPr><m:t>txt</m:t></m:r><m:r><m:rPr><m:sty m:val="p" /></m:rPr><m:t>,</m:t></m:r><m:r><m:rPr><m:nor /><m:sty m:val="p" /></m:rPr><m:t>img</m:t></m:r><m:r><m:rPr><m:sty m:val="p" /></m:rPr><m:t>}</m:t></m:r></m:sub><m:sup><m:r><m:t>​</m:t></m:r></m:sup><m:e><m:sSub><m:e><m:acc><m:accPr><m:chr m:val="̃" /></m:accPr><m:e><m:r><m:t>m</m:t></m:r></m:e></m:acc></m:e><m:sub><m:r><m:rPr><m:nor /><m:sty m:val="p" /></m:rPr><m:t>mod</m:t></m:r></m:sub></m:sSub></m:e></m:nary><m:d><m:dPr><m:begChr m:val="(" /><m:endChr m:val=")" /><m:sepChr m:val="" /><m:grow /></m:dPr><m:e><m:sSub><m:e><m:acc><m:accPr><m:chr m:val="̃" /></m:accPr><m:e><m:r><m:t>X</m:t></m:r></m:e></m:acc></m:e><m:sub><m:r><m:rPr><m:nor /><m:sty m:val="p" /></m:rPr><m:t>mod</m:t></m:r></m:sub></m:sSub></m:e></m:d></m:e></m:mr></m:m></m:oMath></m:oMathPara></a14:m></a:p><a:p><a:pPr lvl="0" indent="0" marL="0"><a:buNone /></a:pPr><a:r><a:rPr /><a:t>and </a:t></a:r><a14:m><m:oMath xmlns:m="http://schemas.openxmlformats.org/officeDocument/2006/math"><m:r><m:t>ε</m:t></m:r><m:r><m:rPr><m:sty m:val="p" /></m:rPr><m:t>,</m:t></m:r><m:r><m:t>ϑ</m:t></m:r><m:r><m:rPr><m:sty m:val="p" /></m:rPr><m:t>∼</m:t></m:r><m:r><m:rPr><m:sty m:val="p" /><m:scr m:val="script" /></m:rPr><m:t>N</m:t></m:r><m:d><m:dPr><m:begChr m:val="(" /><m:endChr m:val=")" /><m:sepChr m:val="" /><m:grow /></m:dPr><m:e><m:r><m:t>0</m:t></m:r><m:r><m:rPr><m:sty m:val="p" /></m:rPr><m:t>,</m:t></m:r><m:r><m:t>1</m:t></m:r></m:e></m:d></m:oMath></a14:m><a:r><a:rPr /><a:t>.</a:t></a:r></a:p><a:p><a:pPr lvl="0" indent="0" marL="0"><a:spcBef><a:spcPts val="3000" /></a:spcBef><a:buNone /></a:pPr><a:r><a:rPr b="1" /><a:t>Construction of a semi-synthetic dataset</a:t></a:r></a:p><a:p><a:pPr lvl="0" /><a:r><a:rPr /><a:t>The effect on the outcome </a:t></a:r><a14:m><m:oMath xmlns:m="http://schemas.openxmlformats.org/officeDocument/2006/math"><m:r><m:t>Y</m:t></m:r></m:oMath></a14:m><a:r><a:rPr /><a:t> is generated via a standardized version of target variable to balance the confounding impact of all modalities:</a:t></a:r></a:p><a:p><a:pPr lvl="0" /><a14:m><m:oMathPara xmlns:m="http://schemas.openxmlformats.org/officeDocument/2006/math"><m:oMathParaPr><m:jc m:val="center" /></m:oMathParaPr><m:oMath><m:m><m:mPr><m:baseJc m:val="center" /><m:plcHide m:val="on" /><m:mcs><m:mc><m:mcPr><m:mcJc m:val="right" /><m:count m:val="1" /></m:mcPr></m:mc></m:mcs></m:mPr><m:mr><m:e><m:sSub><m:e><m:acc><m:accPr><m:chr m:val="̃" /></m:accPr><m:e><m:r><m:t>g</m:t></m:r></m:e></m:acc></m:e><m:sub><m:r><m:rPr><m:nor /><m:sty m:val="p" /></m:rPr><m:t>mod</m:t></m:r></m:sub></m:sSub><m:d><m:dPr><m:begChr m:val="(" /><m:endChr m:val=")" /><m:sepChr m:val="" /><m:grow /></m:dPr><m:e><m:sSub><m:e><m:acc><m:accPr><m:chr m:val="̃" /></m:accPr><m:e><m:r><m:t>X</m:t></m:r></m:e></m:acc></m:e><m:sub><m:r><m:rPr><m:nor /><m:sty m:val="p" /></m:rPr><m:t>mod</m:t></m:r></m:sub></m:sSub></m:e></m:d><m:r><m:rPr><m:sty m:val="p" /></m:rPr><m:t>=</m:t></m:r><m:f><m:fPr><m:type m:val="bar" /></m:fPr><m:num><m:sSub><m:e><m:acc><m:accPr><m:chr m:val="̃" /></m:accPr><m:e><m:r><m:t>X</m:t></m:r></m:e></m:acc></m:e><m:sub><m:r><m:rPr><m:nor /><m:sty m:val="p" /></m:rPr><m:t>mod</m:t></m:r></m:sub></m:sSub><m:r><m:rPr><m:sty m:val="p" /></m:rPr><m:t>−</m:t></m:r><m:r><m:rPr><m:sty m:val="p" /><m:scr m:val="double-struck" /></m:rPr><m:t>E</m:t></m:r><m:d><m:dPr><m:begChr m:val="[" /><m:endChr m:val="]" /><m:sepChr m:val="" /><m:grow /></m:dPr><m:e><m:sSub><m:e><m:acc><m:accPr><m:chr m:val="̃" /></m:accPr><m:e><m:r><m:t>X</m:t></m:r></m:e></m:acc></m:e><m:sub><m:r><m:rPr><m:nor /><m:sty m:val="p" /></m:rPr><m:t>mod</m:t></m:r></m:sub></m:sSub></m:e></m:d></m:num><m:den><m:sSub><m:e><m:r><m:t>σ</m:t></m:r></m:e><m:sub><m:sSub><m:e><m:acc><m:accPr><m:chr m:val="̃" /></m:accPr><m:e><m:r><m:t>X</m:t></m:r></m:e></m:acc></m:e><m:sub><m:r><m:rPr><m:nor /><m:sty m:val="p" /></m:rPr><m:t>mod</m:t></m:r></m:sub></m:sSub></m:sub></m:sSub></m:den></m:f><m:r><m:rPr><m:sty m:val="p" /></m:rPr><m:t>,</m:t></m:r><m:r><m:t> </m:t></m:r><m:r><m:rPr><m:nor /><m:sty m:val="p" /></m:rPr><m:t>mod</m:t></m:r><m:r><m:rPr><m:sty m:val="p" /></m:rPr><m:t>∈</m:t></m:r><m:r><m:rPr><m:sty m:val="p" /></m:rPr><m:t>{</m:t></m:r><m:r><m:rPr><m:nor /><m:sty m:val="p" /></m:rPr><m:t>tab</m:t></m:r><m:r><m:rPr><m:sty m:val="p" /></m:rPr><m:t>,</m:t></m:r><m:r><m:rPr><m:nor /><m:sty m:val="p" /></m:rPr><m:t>txt</m:t></m:r><m:r><m:rPr><m:sty m:val="p" /></m:rPr><m:t>,</m:t></m:r><m:r><m:rPr><m:nor /><m:sty m:val="p" /></m:rPr><m:t>img</m:t></m:r><m:r><m:rPr><m:sty m:val="p" /></m:rPr><m:t>}</m:t></m:r></m:e></m:mr></m:m></m:oMath></m:oMathPara></a14:m></a:p><a:p><a:pPr lvl="0" /><a:r><a:rPr /><a:t>Further, to ensure a strong confounding, the impact on the treatment </a:t></a:r><a14:m><m:oMath xmlns:m="http://schemas.openxmlformats.org/officeDocument/2006/math"><m:r><m:t>D</m:t></m:r></m:oMath></a14:m><a:r><a:rPr /><a:t> is defined via:</a:t></a:r></a:p><a:p><a:pPr lvl="0" /><a14:m><m:oMathPara xmlns:m="http://schemas.openxmlformats.org/officeDocument/2006/math"><m:oMathParaPr><m:jc m:val="center" /></m:oMathParaPr><m:oMath><m:m><m:mPr><m:baseJc m:val="center" /><m:plcHide m:val="on" /><m:mcs><m:mc><m:mcPr><m:mcJc m:val="right" /><m:count m:val="1" /></m:mcPr></m:mc></m:mcs></m:mPr><m:mr><m:e><m:sSub><m:e><m:acc><m:accPr><m:chr m:val="̃" /></m:accPr><m:e><m:r><m:t>m</m:t></m:r></m:e></m:acc></m:e><m:sub><m:r><m:rPr><m:nor /><m:sty m:val="p" /></m:rPr><m:t>mod</m:t></m:r></m:sub></m:sSub><m:d><m:dPr><m:begChr m:val="(" /><m:endChr m:val=")" /><m:sepChr m:val="" /><m:grow /></m:dPr><m:e><m:sSub><m:e><m:acc><m:accPr><m:chr m:val="̃" /></m:accPr><m:e><m:r><m:t>X</m:t></m:r></m:e></m:acc></m:e><m:sub><m:r><m:rPr><m:nor /><m:sty m:val="p" /></m:rPr><m:t>mod</m:t></m:r></m:sub></m:sSub></m:e></m:d><m:r><m:rPr><m:sty m:val="p" /></m:rPr><m:t>=</m:t></m:r><m:r><m:rPr><m:sty m:val="p" /></m:rPr><m:t>−</m:t></m:r><m:sSub><m:e><m:acc><m:accPr><m:chr m:val="̃" /></m:accPr><m:e><m:r><m:t>g</m:t></m:r></m:e></m:acc></m:e><m:sub><m:r><m:rPr><m:nor /><m:sty m:val="p" /></m:rPr><m:t>mod</m:t></m:r></m:sub></m:sSub><m:d><m:dPr><m:begChr m:val="(" /><m:endChr m:val=")" /><m:sepChr m:val="" /><m:grow /></m:dPr><m:e><m:sSub><m:e><m:acc><m:accPr><m:chr m:val="̃" /></m:accPr><m:e><m:r><m:t>X</m:t></m:r></m:e></m:acc></m:e><m:sub><m:r><m:rPr><m:nor /><m:sty m:val="p" /></m:rPr><m:t>mod</m:t></m:r></m:sub></m:sSub></m:e></m:d><m:r><m:rPr><m:sty m:val="p" /></m:rPr><m:t>,</m:t></m:r><m:r><m:t> </m:t></m:r><m:r><m:rPr><m:nor /><m:sty m:val="p" /></m:rPr><m:t>mod</m:t></m:r><m:r><m:rPr><m:sty m:val="p" /></m:rPr><m:t>∈</m:t></m:r><m:r><m:rPr><m:sty m:val="p" /></m:rPr><m:t>{</m:t></m:r><m:r><m:rPr><m:nor /><m:sty m:val="p" /></m:rPr><m:t>tab</m:t></m:r><m:r><m:rPr><m:sty m:val="p" /></m:rPr><m:t>,</m:t></m:r><m:r><m:rPr><m:nor /><m:sty m:val="p" /></m:rPr><m:t>txt</m:t></m:r><m:r><m:rPr><m:sty m:val="p" /></m:rPr><m:t>,</m:t></m:r><m:r><m:rPr><m:nor /><m:sty m:val="p" /></m:rPr><m:t>img</m:t></m:r><m:r><m:rPr><m:sty m:val="p" /></m:rPr><m:t>}</m:t></m:r></m:e></m:mr></m:m></m:oMath></m:oMathPara></a14:m></a:p><a:p><a:pPr lvl="0" indent="0" marL="0"><a:spcBef><a:spcPts val="3000" /></a:spcBef><a:buNone /></a:pPr><a:r><a:rPr b="1" /><a:t>Construction of a semi-synthetic dataset</a:t></a:r></a:p><a:p><a:pPr lvl="0" /><a:r><a:rPr /><a:t>Due to the negative sign and the additive structure, the confounding effect will ensure that higher outcomes </a:t></a:r><a14:m><m:oMath xmlns:m="http://schemas.openxmlformats.org/officeDocument/2006/math"><m:r><m:t>Y</m:t></m:r></m:oMath></a14:m><a:r><a:rPr /><a:t> occur with lower treatment values </a:t></a:r><a14:m><m:oMath xmlns:m="http://schemas.openxmlformats.org/officeDocument/2006/math"><m:r><m:t>D</m:t></m:r></m:oMath></a14:m><a:r><a:rPr /><a:t>, creating a </a:t></a:r><a:r><a:rPr b="1" /><a:t>negative bias</a:t></a:r></a:p><a:p><a:pPr lvl="1" /><a:r><a:rPr /><a:t>The independence of all three original datasets and the additive negative confounding results in a negative bias even if we only control for a subset of confounding factors</a:t></a:r></a:p></p:txBody></p:sp></mc:Choice></mc:AlternateContent><p:pic><p:nvPicPr><p:cNvPr descr="images\DAG_SemiSynth.PNG" id="0" name="Picture 1" /><p:cNvPicPr><a:picLocks noGrp="1" noChangeAspect="1" /></p:cNvPicPr><p:nvPr /></p:nvPicPr><p:blipFill><a:blip r:embed="rId3" /><a:stretch><a:fillRect /></a:stretch></p:blipFill><p:spPr bwMode="auto"><a:xfrm><a:off x="3251200" y="1193800" /><a:ext cx="2641600" cy="2882900" /></a:xfrm><a:prstGeom prst="rect"><a:avLst /></a:prstGeom><a:noFill /><a:ln w="9525"><a:noFill /><a:headEnd /><a:tailEnd /></a:ln></p:spPr></p:pic><p:sp><p:nvSpPr><p:cNvPr id="1" name="TextBox 3" /><p:cNvSpPr txBox="1" /><p:nvPr /></p:nvSpPr><p:spPr><a:xfrm><a:off x="457200" y="4076700" /><a:ext cx="8229600" cy="508000" /></a:xfrm><a:prstGeom prst="rect"><a:avLst /></a:prstGeom><a:noFill /></p:spPr><p:txBody><a:bodyPr /><a:lstStyle /><a:p><a:pPr lvl="0" indent="0" marL="0" algn="ctr"><a:buNone /></a:pPr><a:r><a:rPr /><a:t>DAG for the semi-synthetic dataset. The confounding via the features </a:t></a:r><a14:m><m:oMath xmlns:m="http://schemas.openxmlformats.org/officeDocument/2006/math"><m:r><m:t>X</m:t></m:r><m:r><m:rPr><m:sty m:val="p" /></m:rPr><m:t>=</m:t></m:r><m:d><m:dPr><m:begChr m:val="(" /><m:endChr m:val=")" /><m:sepChr m:val="" /><m:grow /></m:dPr><m:e><m:sSub><m:e><m:r><m:t>X</m:t></m:r></m:e><m:sub><m:r><m:rPr><m:nor /><m:sty m:val="p" /></m:rPr><m:t>tab</m:t></m:r></m:sub></m:sSub><m:r><m:rPr><m:sty m:val="p" /></m:rPr><m:t>,</m:t></m:r><m:sSub><m:e><m:r><m:t>X</m:t></m:r></m:e><m:sub><m:r><m:rPr><m:nor /><m:sty m:val="p" /></m:rPr><m:t>txt</m:t></m:r></m:sub></m:sSub><m:r><m:rPr><m:sty m:val="p" /></m:rPr><m:t>,</m:t></m:r><m:sSub><m:e><m:r><m:t>X</m:t></m:r></m:e><m:sub><m:r><m:rPr><m:nor /><m:sty m:val="p" /></m:rPr><m:t>img</m:t></m:r></m:sub></m:sSub></m:e></m:d></m:oMath></a14:m><a:r><a:rPr /><a:t> can be adjusted for, whereas the unexplained/noise parts </a:t></a:r><a14:m><m:oMath xmlns:m="http://schemas.openxmlformats.org/officeDocument/2006/math"><m:r><m:t>U</m:t></m:r><m:r><m:rPr><m:sty m:val="p" /></m:rPr><m:t>=</m:t></m:r><m:d><m:dPr><m:begChr m:val="(" /><m:endChr m:val=")" /><m:sepChr m:val="" /><m:grow /></m:dPr><m:e><m:sSub><m:e><m:r><m:t>U</m:t></m:r></m:e><m:sub><m:r><m:rPr><m:nor /><m:sty m:val="p" /></m:rPr><m:t>tab</m:t></m:r></m:sub></m:sSub><m:r><m:rPr><m:sty m:val="p" /></m:rPr><m:t>,</m:t></m:r><m:sSub><m:e><m:r><m:t>U</m:t></m:r></m:e><m:sub><m:r><m:rPr><m:nor /><m:sty m:val="p" /></m:rPr><m:t>txt</m:t></m:r></m:sub></m:sSub><m:r><m:rPr><m:sty m:val="p" /></m:rPr><m:t>,</m:t></m:r><m:sSub><m:e><m:r><m:t>U</m:t></m:r></m:e><m:sub><m:r><m:rPr><m:nor /><m:sty m:val="p" /></m:rPr><m:t>img</m:t></m:r></m:sub></m:sSub></m:e></m:d></m:oMath></a14:m><a:r><a:rPr /><a:t> are unobserved.</a:t></a:r></a:p></p:txBody></p:sp><mc:AlternateContent xmlns:mc="http://schemas.openxmlformats.org/markup-compatibility/2006"><mc:Choice xmlns:a14="http://schemas.microsoft.com/office/drawing/2010/main" Requires="a14"><p:sp><p:nvSpPr><p:cNvPr id="3" name="Content Placeholder 2" /><p:cNvSpPr><a:spLocks noGrp="1" /></p:cNvSpPr><p:nvPr><p:ph idx="1" /></p:nvPr></p:nvSpPr><p:spPr /><p:txBody><a:bodyPr /><a:lstStyle /><a:p><a:pPr lvl="0" indent="0" marL="0"><a:spcBef><a:spcPts val="3000" /></a:spcBef><a:buNone /></a:pPr><a:r><a:rPr b="1" /><a:t>Construction of a semi-synthetic dataset</a:t></a:r></a:p><a:p><a:pPr lvl="0" /><a:r><a:rPr /><a:t>The treatment effect is set to </a:t></a:r><a14:m><m:oMath xmlns:m="http://schemas.openxmlformats.org/officeDocument/2006/math"><m:sSub><m:e><m:r><m:t>θ</m:t></m:r></m:e><m:sub><m:r><m:t>0</m:t></m:r></m:sub></m:sSub><m:r><m:rPr><m:sty m:val="p" /></m:rPr><m:t>=</m:t></m:r><m:r><m:t>0.5</m:t></m:r></m:oMath></a14:m><a:r><a:rPr /><a:t> with </a:t></a:r><a14:m><m:oMath xmlns:m="http://schemas.openxmlformats.org/officeDocument/2006/math"><m:r><m:t>n</m:t></m:r><m:r><m:rPr><m:sty m:val="p" /></m:rPr><m:t>=</m:t></m:r><m:r><m:t>50.000</m:t></m:r></m:oMath></a14:m><a:r><a:rPr /><a:t> samples in the dataset</a:t></a:r></a:p><a:p><a:pPr lvl="0" /><a:r><a:rPr /><a:t>The confounding is generated through the labels </a:t></a:r><a14:m><m:oMath xmlns:m="http://schemas.openxmlformats.org/officeDocument/2006/math"><m:sSub><m:e><m:acc><m:accPr><m:chr m:val="̃" /></m:accPr><m:e><m:r><m:t>X</m:t></m:r></m:e></m:acc></m:e><m:sub><m:r><m:rPr><m:nor /><m:sty m:val="p" /></m:rPr><m:t>mod</m:t></m:r></m:sub></m:sSub></m:oMath></a14:m><a:r><a:rPr /><a:t> of the corresponding dataset</a:t></a:r></a:p><a:p><a:pPr lvl="0" /><a:r><a:rPr /><a:t>Both </a:t></a:r><a14:m><m:oMath xmlns:m="http://schemas.openxmlformats.org/officeDocument/2006/math"><m:sSub><m:e><m:acc><m:accPr><m:chr m:val="̃" /></m:accPr><m:e><m:r><m:t>g</m:t></m:r></m:e></m:acc></m:e><m:sub><m:r><m:t>0</m:t></m:r></m:sub></m:sSub><m:d><m:dPr><m:begChr m:val="(" /><m:endChr m:val=")" /><m:sepChr m:val="" /><m:grow /></m:dPr><m:e><m:r><m:t>X</m:t></m:r></m:e></m:d></m:oMath></a14:m><a:r><a:rPr /><a:t> and </a:t></a:r><a14:m><m:oMath xmlns:m="http://schemas.openxmlformats.org/officeDocument/2006/math"><m:sSub><m:e><m:acc><m:accPr><m:chr m:val="̃" /></m:accPr><m:e><m:r><m:t>m</m:t></m:r></m:e></m:acc></m:e><m:sub><m:r><m:t>0</m:t></m:r></m:sub></m:sSub><m:d><m:dPr><m:begChr m:val="(" /><m:endChr m:val=")" /><m:sepChr m:val="" /><m:grow /></m:dPr><m:e><m:r><m:t>X</m:t></m:r></m:e></m:d></m:oMath></a14:m><a:r><a:rPr /><a:t> are rescaled to ensure a signal-to-noise ratio of </a:t></a:r><a14:m><m:oMath xmlns:m="http://schemas.openxmlformats.org/officeDocument/2006/math"><m:r><m:t>2</m:t></m:r></m:oMath></a14:m><a:r><a:rPr /><a:t> for </a:t></a:r><a14:m><m:oMath xmlns:m="http://schemas.openxmlformats.org/officeDocument/2006/math"><m:r><m:t>Y</m:t></m:r></m:oMath></a14:m><a:r><a:rPr /><a:t> and </a:t></a:r><a14:m><m:oMath xmlns:m="http://schemas.openxmlformats.org/officeDocument/2006/math"><m:r><m:t>D</m:t></m:r></m:oMath></a14:m><a:r><a:rPr /><a:t> (given unit variances of the error terms)</a:t></a:r></a:p><a:p><a:pPr lvl="0" indent="0" marL="0"><a:spcBef><a:spcPts val="3000" /></a:spcBef><a:buNone /></a:pPr><a:r><a:rPr b="1" /><a:t>Challenges of the proposed dataset</a:t></a:r></a:p><a:p><a:pPr lvl="0" /><a:r><a:rPr /><a:t>Dependency on the target of the modality </a:t></a:r><a14:m><m:oMath xmlns:m="http://schemas.openxmlformats.org/officeDocument/2006/math"><m:sSub><m:e><m:acc><m:accPr><m:chr m:val="̃" /></m:accPr><m:e><m:r><m:t>X</m:t></m:r></m:e></m:acc></m:e><m:sub><m:r><m:rPr><m:nor /><m:sty m:val="p" /></m:rPr><m:t>mod</m:t></m:r></m:sub></m:sSub></m:oMath></a14:m></a:p><a:p><a:pPr lvl="1" /><a:r><a:rPr /><a:t>Might not be fully explained by the corresponding features </a:t></a:r><a14:m><m:oMath xmlns:m="http://schemas.openxmlformats.org/officeDocument/2006/math"><m:sSub><m:e><m:r><m:t>X</m:t></m:r></m:e><m:sub><m:r><m:rPr><m:nor /><m:sty m:val="p" /></m:rPr><m:t>mod</m:t></m:r></m:sub></m:sSub></m:oMath></a14:m></a:p><a:p><a:pPr lvl="0" /><a:r><a:rPr /><a:t>Consequently, the estimate </a:t></a:r><a14:m><m:oMath xmlns:m="http://schemas.openxmlformats.org/officeDocument/2006/math"><m:acc><m:accPr><m:chr m:val="̂" /></m:accPr><m:e><m:r><m:t>θ</m:t></m:r></m:e></m:acc></m:oMath></a14:m><a:r><a:rPr /><a:t> might only be able to account for the part of confounding which can be explained by the input features:</a:t></a:r></a:p><a:p><a:pPr lvl="0" /><a14:m><m:oMathPara xmlns:m="http://schemas.openxmlformats.org/officeDocument/2006/math"><m:oMathParaPr><m:jc m:val="center" /></m:oMathParaPr><m:oMath><m:m><m:mPr><m:baseJc m:val="center" /><m:plcHide m:val="on" /><m:mcs><m:mc><m:mcPr><m:mcJc m:val="right" /><m:count m:val="1" /></m:mcPr></m:mc></m:mcs></m:mPr><m:mr><m:e><m:sSub><m:e><m:acc><m:accPr><m:chr m:val="̃" /></m:accPr><m:e><m:r><m:t>X</m:t></m:r></m:e></m:acc></m:e><m:sub><m:r><m:rPr><m:nor /><m:sty m:val="p" /></m:rPr><m:t>mod</m:t></m:r></m:sub></m:sSub><m:r><m:rPr><m:sty m:val="p" /></m:rPr><m:t>=</m:t></m:r><m:r><m:rPr><m:sty m:val="p" /><m:scr m:val="double-struck" /></m:rPr><m:t>E</m:t></m:r><m:d><m:dPr><m:begChr m:val="[" /><m:endChr m:val="]" /><m:sepChr m:val="" /><m:grow /></m:dPr><m:e><m:sSub><m:e><m:acc><m:accPr><m:chr m:val="̃" /></m:accPr><m:e><m:r><m:t>X</m:t></m:r></m:e></m:acc></m:e><m:sub><m:r><m:rPr><m:nor /><m:sty m:val="p" /></m:rPr><m:t>mod</m:t></m:r></m:sub></m:sSub><m:r><m:rPr><m:sty m:val="p" /></m:rPr><m:t>|</m:t></m:r><m:sSub><m:e><m:r><m:t>X</m:t></m:r></m:e><m:sub><m:r><m:rPr><m:nor /><m:sty m:val="p" /></m:rPr><m:t>mod</m:t></m:r></m:sub></m:sSub></m:e></m:d><m:r><m:rPr><m:sty m:val="p" /></m:rPr><m:t>+</m:t></m:r><m:sSub><m:e><m:r><m:t>U</m:t></m:r></m:e><m:sub><m:r><m:rPr><m:nor /><m:sty m:val="p" /></m:rPr><m:t>mod</m:t></m:r></m:sub></m:sSub><m:r><m:rPr><m:sty m:val="p" /></m:rPr><m:t>,</m:t></m:r></m:e></m:mr></m:m></m:oMath></m:oMathPara></a14:m></a:p><a:p><a:pPr lvl="0" /><a:r><a:rPr /><a:t>where </a:t></a:r><a14:m><m:oMath xmlns:m="http://schemas.openxmlformats.org/officeDocument/2006/math"><m:sSub><m:e><m:r><m:t>U</m:t></m:r></m:e><m:sub><m:r><m:rPr><m:nor /><m:sty m:val="p" /></m:rPr><m:t>mod</m:t></m:r></m:sub></m:sSub></m:oMath></a14:m><a:r><a:rPr /><a:t> can not be controlled for</a:t></a:r></a:p><a:p><a:pPr lvl="0" indent="0" marL="0"><a:spcBef><a:spcPts val="3000" /></a:spcBef><a:buNone /></a:pPr><a:r><a:rPr b="1" /><a:t>Bounds for the estimation of </a:t></a:r><a14:m><m:oMath xmlns:m="http://schemas.openxmlformats.org/officeDocument/2006/math"><m:sSub><m:e><m:r><m:t>θ</m:t></m:r></m:e><m:sub><m:r><m:t>0</m:t></m:r></m:sub></m:sSub></m:oMath></a14:m></a:p><a:p><a:pPr lvl="0" /><a:r><a:rPr /><a:t>Since all modalities contribute a negative bias, the semi-synthetic dataset can be used as a benchmark with an oracle upper bound of an effect estimate of </a:t></a:r><a14:m><m:oMath xmlns:m="http://schemas.openxmlformats.org/officeDocument/2006/math"><m:sSub><m:e><m:r><m:t>θ</m:t></m:r></m:e><m:sub><m:r><m:t>0</m:t></m:r></m:sub></m:sSub><m:r><m:rPr><m:sty m:val="p" /></m:rPr><m:t>=</m:t></m:r><m:r><m:t>0.5</m:t></m:r></m:oMath></a14:m></a:p><a:p><a:pPr lvl="0" /><a:r><a:rPr /><a:t>For the lower bound, one can evaluate a basic ordinary least squares model with outcome </a:t></a:r><a14:m><m:oMath xmlns:m="http://schemas.openxmlformats.org/officeDocument/2006/math"><m:r><m:t>Y</m:t></m:r></m:oMath></a14:m><a:r><a:rPr /><a:t> on the treatment variable </a:t></a:r><a14:m><m:oMath xmlns:m="http://schemas.openxmlformats.org/officeDocument/2006/math"><m:r><m:t>D</m:t></m:r></m:oMath></a14:m><a:r><a:rPr /><a:t> (excluding all confounding variables)</a:t></a:r></a:p><a:p><a:pPr lvl="1" /><a:r><a:rPr /><a:t>The resulting effect estimate </a:t></a:r><a14:m><m:oMath xmlns:m="http://schemas.openxmlformats.org/officeDocument/2006/math"><m:sSub><m:e><m:acc><m:accPr><m:chr m:val="̂" /></m:accPr><m:e><m:r><m:t>θ</m:t></m:r></m:e></m:acc></m:e><m:sub><m:r><m:rPr><m:nor /><m:sty m:val="p" /></m:rPr><m:t>OLS</m:t></m:r></m:sub></m:sSub><m:r><m:rPr><m:sty m:val="p" /></m:rPr><m:t>=</m:t></m:r><m:r><m:rPr><m:sty m:val="p" /></m:rPr><m:t>−</m:t></m:r><m:r><m:t>0.4594</m:t></m:r></m:oMath></a14:m></a:p><a:p><a:pPr lvl="0" indent="0" marL="0"><a:spcBef><a:spcPts val="3000" /></a:spcBef><a:buNone /></a:pPr><a:r><a:rPr b="1" /><a:t>Bounds for the estimation of </a:t></a:r><a14:m><m:oMath xmlns:m="http://schemas.openxmlformats.org/officeDocument/2006/math"><m:sSub><m:e><m:r><m:t>θ</m:t></m:r></m:e><m:sub><m:r><m:t>0</m:t></m:r></m:sub></m:sSub></m:oMath></a14:m></a:p><a:p><a:pPr lvl="0" /><a:r><a:rPr /><a:t>To access the predictive performance of the nuisance models, we can rely on oracle predictions of</a:t></a:r></a:p><a:p><a:pPr lvl="0" /><a14:m><m:oMathPara xmlns:m="http://schemas.openxmlformats.org/officeDocument/2006/math"><m:oMathParaPr><m:jc m:val="center" /></m:oMathParaPr><m:oMath><m:m><m:mPr><m:baseJc m:val="center" /><m:plcHide m:val="on" /><m:mcs><m:mc><m:mcPr><m:mcJc m:val="right" /><m:count m:val="1" /></m:mcPr></m:mc><m:mc><m:mcPr><m:mcJc m:val="left" /><m:count m:val="1" /></m:mcPr></m:mc></m:mcs></m:mPr><m:mr><m:e><m:sSub><m:e><m:acc><m:accPr><m:chr m:val="̃" /></m:accPr><m:e><m:r><m:t>m</m:t></m:r></m:e></m:acc></m:e><m:sub><m:r><m:t>0</m:t></m:r></m:sub></m:sSub><m:d><m:dPr><m:begChr m:val="(" /><m:endChr m:val=")" /><m:sepChr m:val="" /><m:grow /></m:dPr><m:e><m:acc><m:accPr><m:chr m:val="̃" /></m:accPr><m:e><m:r><m:t>X</m:t></m:r></m:e></m:acc></m:e></m:d><m:box><m:boxPr><m:opEmu m:val="on" /></m:boxPr><m:e><m:r><m:rPr><m:sty m:val="p" /></m:rPr><m:t>:=</m:t></m:r></m:e></m:box><m:r><m:rPr><m:sty m:val="p" /><m:scr m:val="double-struck" /></m:rPr><m:t>E</m:t></m:r><m:d><m:dPr><m:begChr m:val="[" /><m:endChr m:val="]" /><m:sepChr m:val="" /><m:grow /></m:dPr><m:e><m:r><m:t>D</m:t></m:r><m:r><m:rPr><m:sty m:val="p" /></m:rPr><m:t>|</m:t></m:r><m:acc><m:accPr><m:chr m:val="̃" /></m:accPr><m:e><m:r><m:t>X</m:t></m:r></m:e></m:acc></m:e></m:d></m:e></m:mr><m:mr><m:e><m:sSub><m:e><m:acc><m:accPr><m:chr m:val="̃" /></m:accPr><m:e><m:r><m:t>l</m:t></m:r></m:e></m:acc></m:e><m:sub><m:r><m:t>0</m:t></m:r></m:sub></m:sSub><m:d><m:dPr><m:begChr m:val="(" /><m:endChr m:val=")" /><m:sepChr m:val="" /><m:grow /></m:dPr><m:e><m:acc><m:accPr><m:chr m:val="̃" /></m:accPr><m:e><m:r><m:t>X</m:t></m:r></m:e></m:acc></m:e></m:d><m:box><m:boxPr><m:opEmu m:val="on" /></m:boxPr><m:e><m:r><m:rPr><m:sty m:val="p" /></m:rPr><m:t>:=</m:t></m:r></m:e></m:box><m:r><m:rPr><m:sty m:val="p" /><m:scr m:val="double-struck" /></m:rPr><m:t>E</m:t></m:r><m:d><m:dPr><m:begChr m:val="[" /><m:endChr m:val="]" /><m:sepChr m:val="" /><m:grow /></m:dPr><m:e><m:r><m:t>Y</m:t></m:r><m:r><m:rPr><m:sty m:val="p" /></m:rPr><m:t>|</m:t></m:r><m:acc><m:accPr><m:chr m:val="̃" /></m:accPr><m:e><m:r><m:t>X</m:t></m:r></m:e></m:acc></m:e></m:d></m:e><m:e><m:r><m:rPr><m:sty m:val="p" /></m:rPr><m:t>=</m:t></m:r><m:sSub><m:e><m:r><m:t>θ</m:t></m:r></m:e><m:sub><m:r><m:t>0</m:t></m:r></m:sub></m:sSub><m:sSub><m:e><m:acc><m:accPr><m:chr m:val="̃" /></m:accPr><m:e><m:r><m:t>m</m:t></m:r></m:e></m:acc></m:e><m:sub><m:r><m:t>0</m:t></m:r></m:sub></m:sSub><m:d><m:dPr><m:begChr m:val="(" /><m:endChr m:val=")" /><m:sepChr m:val="" /><m:grow /></m:dPr><m:e><m:acc><m:accPr><m:chr m:val="̃" /></m:accPr><m:e><m:r><m:t>X</m:t></m:r></m:e></m:acc></m:e></m:d><m:r><m:rPr><m:sty m:val="p" /></m:rPr><m:t>+</m:t></m:r><m:sSub><m:e><m:acc><m:accPr><m:chr m:val="̃" /></m:accPr><m:e><m:r><m:t>g</m:t></m:r></m:e></m:acc></m:e><m:sub><m:r><m:t>0</m:t></m:r></m:sub></m:sSub><m:d><m:dPr><m:begChr m:val="(" /><m:endChr m:val=")" /><m:sepChr m:val="" /><m:grow /></m:dPr><m:e><m:acc><m:accPr><m:chr m:val="̃" /></m:accPr><m:e><m:r><m:t>X</m:t></m:r></m:e></m:acc></m:e></m:d></m:e></m:mr></m:m></m:oMath></m:oMathPara></a14:m></a:p><a:p><a:pPr lvl="0" /><a:r><a:rPr /><a:t>Evaluating the oracle predictions </a:t></a:r><a14:m><m:oMath xmlns:m="http://schemas.openxmlformats.org/officeDocument/2006/math"><m:sSub><m:e><m:acc><m:accPr><m:chr m:val="̃" /></m:accPr><m:e><m:r><m:t>m</m:t></m:r></m:e></m:acc></m:e><m:sub><m:r><m:t>0</m:t></m:r></m:sub></m:sSub><m:d><m:dPr><m:begChr m:val="(" /><m:endChr m:val=")" /><m:sepChr m:val="" /><m:grow /></m:dPr><m:e><m:acc><m:accPr><m:chr m:val="̃" /></m:accPr><m:e><m:r><m:t>X</m:t></m:r></m:e></m:acc></m:e></m:d></m:oMath></a14:m><a:r><a:rPr /><a:t> and </a:t></a:r><a14:m><m:oMath xmlns:m="http://schemas.openxmlformats.org/officeDocument/2006/math"><m:sSub><m:e><m:acc><m:accPr><m:chr m:val="̃" /></m:accPr><m:e><m:r><m:t>l</m:t></m:r></m:e></m:acc></m:e><m:sub><m:r><m:t>0</m:t></m:r></m:sub></m:sSub><m:d><m:dPr><m:begChr m:val="(" /><m:endChr m:val=")" /><m:sepChr m:val="" /><m:grow /></m:dPr><m:e><m:acc><m:accPr><m:chr m:val="̃" /></m:accPr><m:e><m:r><m:t>X</m:t></m:r></m:e></m:acc></m:e></m:d></m:oMath></a14:m><a:r><a:rPr /><a:t> results in the following upper bounds for the performance of the nuisance estimators</a:t></a:r></a:p><a:p><a:pPr lvl="0" /><a14:m><m:oMathPara xmlns:m="http://schemas.openxmlformats.org/officeDocument/2006/math"><m:oMathParaPr><m:jc m:val="center" /></m:oMathParaPr><m:oMath><m:m><m:mPr><m:baseJc m:val="center" /><m:plcHide m:val="on" /><m:mcs><m:mc><m:mcPr><m:mcJc m:val="right" /><m:count m:val="1" /></m:mcPr></m:mc><m:mc><m:mcPr><m:mcJc m:val="left" /><m:count m:val="1" /></m:mcPr></m:mc></m:mcs></m:mPr><m:mr><m:e><m:sSup><m:e><m:r><m:t>R</m:t></m:r></m:e><m:sup><m:r><m:t>2</m:t></m:r></m:sup></m:sSup><m:d><m:dPr><m:begChr m:val="(" /><m:endChr m:val=")" /><m:sepChr m:val="" /><m:grow /></m:dPr><m:e><m:r><m:t>D</m:t></m:r><m:r><m:rPr><m:sty m:val="p" /></m:rPr><m:t>,</m:t></m:r><m:sSub><m:e><m:acc><m:accPr><m:chr m:val="̃" /></m:accPr><m:e><m:r><m:t>m</m:t></m:r></m:e></m:acc></m:e><m:sub><m:r><m:t>0</m:t></m:r></m:sub></m:sSub><m:d><m:dPr><m:begChr m:val="(" /><m:endChr m:val=")" /><m:sepChr m:val="" /><m:grow /></m:dPr><m:e><m:acc><m:accPr><m:chr m:val="̃" /></m:accPr><m:e><m:r><m:t>X</m:t></m:r></m:e></m:acc></m:e></m:d></m:e></m:d></m:e><m:e><m:r><m:rPr><m:sty m:val="p" /></m:rPr><m:t>=</m:t></m:r><m:r><m:t>0.6713</m:t></m:r></m:e></m:mr><m:mr><m:e><m:sSup><m:e><m:r><m:t>R</m:t></m:r></m:e><m:sup><m:r><m:t>2</m:t></m:r></m:sup></m:sSup><m:d><m:dPr><m:begChr m:val="(" /><m:endChr m:val=")" /><m:sepChr m:val="" /><m:grow /></m:dPr><m:e><m:r><m:t>Y</m:t></m:r><m:r><m:rPr><m:sty m:val="p" /></m:rPr><m:t>,</m:t></m:r><m:sSub><m:e><m:acc><m:accPr><m:chr m:val="̃" /></m:accPr><m:e><m:r><m:t>l</m:t></m:r></m:e></m:acc></m:e><m:sub><m:r><m:t>0</m:t></m:r></m:sub></m:sSub><m:d><m:dPr><m:begChr m:val="(" /><m:endChr m:val=")" /><m:sepChr m:val="" /><m:grow /></m:dPr><m:e><m:acc><m:accPr><m:chr m:val="̃" /></m:accPr><m:e><m:r><m:t>X</m:t></m:r></m:e></m:acc></m:e></m:d></m:e></m:d></m:e><m:e><m:r><m:rPr><m:sty m:val="p" /></m:rPr><m:t>=</m:t></m:r><m:r><m:t>0.5845</m:t></m:r></m:e></m:mr></m:m></m:oMath></m:oMathPara></a14:m></a:p><a:p><a:pPr lvl="0" /><a:r><a:rPr /><a:t>on the whole dataset of </a:t></a:r><a14:m><m:oMath xmlns:m="http://schemas.openxmlformats.org/officeDocument/2006/math"><m:r><m:t>n</m:t></m:r><m:r><m:rPr><m:sty m:val="p" /></m:rPr><m:t>=</m:t></m:r><m:r><m:t>50</m:t></m:r><m:r><m:rPr><m:sty m:val="p" /></m:rPr><m:t>,</m:t></m:r><m:r><m:t>000</m:t></m:r></m:oMath></a14:m><a:r><a:rPr /><a:t> observations</a:t></a:r></a:p><a:p><a:pPr lvl="0" indent="0" marL="0"><a:spcBef><a:spcPts val="3000" /></a:spcBef><a:buNone /></a:pPr><a:r><a:rPr b="1" /><a:t>Simulation Results</a:t></a:r></a:p></p:txBody></p:sp></mc:Choice></mc:AlternateContent></p:spTree></p:cSld></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b="1"/>
              <a:t>Baseline Model</a:t>
            </a:r>
          </a:p>
          <a:p>
            <a:pPr lvl="1"/>
            <a:r>
              <a:rPr/>
              <a:t>Standard DML approach, relying only on tabular data</a:t>
            </a:r>
          </a:p>
          <a:p>
            <a:pPr lvl="1"/>
            <a:r>
              <a:rPr/>
              <a:t>Based on the LightGBM package for estimation of the nuisance elements</a:t>
            </a:r>
          </a:p>
        </p:txBody>
      </p:sp>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a:r>
                  <a:rPr b="1"/>
                  <a:t>Deep Model</a:t>
                </a:r>
              </a:p>
              <a:p>
                <a:pPr lvl="1"/>
                <a:r>
                  <a:rPr/>
                  <a:t>Relies on the proposed architecture</a:t>
                </a:r>
              </a:p>
              <a:p>
                <a:pPr lvl="1"/>
                <a:r>
                  <a:rPr/>
                  <a:t>Uses the out-of-sample predictions of </a:t>
                </a:r>
                <a14:m>
                  <m:oMath xmlns:m="http://schemas.openxmlformats.org/officeDocument/2006/math">
                    <m:acc>
                      <m:accPr>
                        <m:chr m:val="̂"/>
                      </m:accPr>
                      <m:e>
                        <m:r>
                          <m:t>m</m:t>
                        </m:r>
                      </m:e>
                    </m:acc>
                    <m:d>
                      <m:dPr>
                        <m:begChr m:val="("/>
                        <m:endChr m:val=")"/>
                        <m:sepChr m:val=""/>
                        <m:grow/>
                      </m:dPr>
                      <m:e>
                        <m:r>
                          <m:t>X</m:t>
                        </m:r>
                      </m:e>
                    </m:d>
                  </m:oMath>
                </a14:m>
                <a:r>
                  <a:rPr/>
                  <a:t> and </a:t>
                </a:r>
                <a14:m>
                  <m:oMath xmlns:m="http://schemas.openxmlformats.org/officeDocument/2006/math">
                    <m:acc>
                      <m:accPr>
                        <m:chr m:val="̂"/>
                      </m:accPr>
                      <m:e>
                        <m:r>
                          <m:t>l</m:t>
                        </m:r>
                      </m:e>
                    </m:acc>
                    <m:d>
                      <m:dPr>
                        <m:begChr m:val="("/>
                        <m:endChr m:val=")"/>
                        <m:sepChr m:val=""/>
                        <m:grow/>
                      </m:dPr>
                      <m:e>
                        <m:r>
                          <m:t>X</m:t>
                        </m:r>
                      </m:e>
                    </m:d>
                  </m:oMath>
                </a14:m>
                <a:r>
                  <a:rPr/>
                  <a:t> generated from the model</a:t>
                </a:r>
              </a:p>
              <a:p>
                <a:pPr lvl="1"/>
                <a:r>
                  <a:rPr/>
                  <a:t>Based on the RoBERTa Model for text modality, a VIT Model for images and a SAINT model for the tabular data</a:t>
                </a:r>
              </a:p>
            </p:txBody>
          </p:sp>
        </mc:Choice>
      </mc:AlternateContent>
    </p:spTree>
  </p:cSld>
</p:sld>
</file>

<file path=ppt/slides/slide9.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mc:AlternateContent xmlns:mc="http://schemas.openxmlformats.org/markup-compatibility/2006"><mc:Choice xmlns:a14="http://schemas.microsoft.com/office/drawing/2010/main" Requires="a14"><p:sp><p:nvSpPr><p:cNvPr id="4" name="Text Placeholder 3" /><p:cNvSpPr><a:spLocks noGrp="1" /></p:cNvSpPr><p:nvPr><p:ph idx="2" sz="half" type="body" /></p:nvPr></p:nvSpPr><p:spPr /><p:txBody><a:bodyPr /><a:lstStyle /><a:p><a:pPr lvl="0" indent="0" marL="0"><a:spcBef><a:spcPts val="3000" /></a:spcBef><a:buNone /></a:pPr><a:r><a:rPr b="1" /><a:t>Simulation Results</a:t></a:r></a:p><a:p><a:pPr lvl="0" /><a:r><a:rPr /><a:t>In order to compare the predictive performance of the models, a relative </a:t></a:r><a14:m><m:oMath xmlns:m="http://schemas.openxmlformats.org/officeDocument/2006/math"><m:sSup><m:e><m:r><m:t>r</m:t></m:r></m:e><m:sup><m:r><m:t>2</m:t></m:r></m:sup></m:sSup></m:oMath></a14:m><a:r><a:rPr /><a:t>-score with respect to the upper bound is defined as</a:t></a:r></a:p><a:p><a:pPr lvl="0" /><a14:m><m:oMathPara xmlns:m="http://schemas.openxmlformats.org/officeDocument/2006/math"><m:oMathParaPr><m:jc m:val="center" /></m:oMathParaPr><m:oMath><m:m><m:mPr><m:baseJc m:val="center" /><m:plcHide m:val="on" /><m:mcs><m:mc><m:mcPr><m:mcJc m:val="right" /><m:count m:val="1" /></m:mcPr></m:mc><m:mc><m:mcPr><m:mcJc m:val="left" /><m:count m:val="1" /></m:mcPr></m:mc></m:mcs></m:mPr><m:mr><m:e><m:r><m:t>0</m:t></m:r><m:r><m:rPr><m:sty m:val="p" /></m:rPr><m:t>≤</m:t></m:r><m:sSup><m:e><m:r><m:t>r</m:t></m:r></m:e><m:sup><m:r><m:t>2</m:t></m:r></m:sup></m:sSup><m:d><m:dPr><m:begChr m:val="(" /><m:endChr m:val=")" /><m:sepChr m:val="" /><m:grow /></m:dPr><m:e><m:r><m:t>D</m:t></m:r><m:r><m:rPr><m:sty m:val="p" /></m:rPr><m:t>,</m:t></m:r><m:acc><m:accPr><m:chr m:val="̂" /></m:accPr><m:e><m:r><m:t>m</m:t></m:r></m:e></m:acc></m:e></m:d></m:e><m:e><m:box><m:boxPr><m:opEmu m:val="on" /></m:boxPr><m:e><m:r><m:rPr><m:sty m:val="p" /></m:rPr><m:t>:=</m:t></m:r></m:e></m:box><m:f><m:fPr><m:type m:val="bar" /></m:fPr><m:num><m:sSup><m:e><m:r><m:t>R</m:t></m:r></m:e><m:sup><m:r><m:t>2</m:t></m:r></m:sup></m:sSup><m:d><m:dPr><m:begChr m:val="(" /><m:endChr m:val=")" /><m:sepChr m:val="" /><m:grow /></m:dPr><m:e><m:r><m:t>D</m:t></m:r><m:r><m:rPr><m:sty m:val="p" /></m:rPr><m:t>,</m:t></m:r><m:acc><m:accPr><m:chr m:val="̂" /></m:accPr><m:e><m:r><m:t>m</m:t></m:r></m:e></m:acc><m:d><m:dPr><m:begChr m:val="(" /><m:endChr m:val=")" /><m:sepChr m:val="" /><m:grow /></m:dPr><m:e><m:r><m:t>X</m:t></m:r></m:e></m:d></m:e></m:d></m:num><m:den><m:sSup><m:e><m:r><m:t>R</m:t></m:r></m:e><m:sup><m:r><m:t>2</m:t></m:r></m:sup></m:sSup><m:d><m:dPr><m:begChr m:val="(" /><m:endChr m:val=")" /><m:sepChr m:val="" /><m:grow /></m:dPr><m:e><m:r><m:t>D</m:t></m:r><m:r><m:rPr><m:sty m:val="p" /></m:rPr><m:t>,</m:t></m:r><m:sSub><m:e><m:acc><m:accPr><m:chr m:val="̃" /></m:accPr><m:e><m:r><m:t>m</m:t></m:r></m:e></m:acc></m:e><m:sub><m:r><m:t>0</m:t></m:r></m:sub></m:sSub><m:d><m:dPr><m:begChr m:val="(" /><m:endChr m:val=")" /><m:sepChr m:val="" /><m:grow /></m:dPr><m:e><m:acc><m:accPr><m:chr m:val="̃" /></m:accPr><m:e><m:r><m:t>X</m:t></m:r></m:e></m:acc></m:e></m:d></m:e></m:d></m:den></m:f><m:r><m:rPr><m:sty m:val="p" /></m:rPr><m:t>≤</m:t></m:r><m:r><m:t>1</m:t></m:r></m:e></m:mr><m:mr><m:e><m:r><m:t>0</m:t></m:r><m:r><m:rPr><m:sty m:val="p" /></m:rPr><m:t>≤</m:t></m:r><m:sSup><m:e><m:r><m:t>r</m:t></m:r></m:e><m:sup><m:r><m:t>2</m:t></m:r></m:sup></m:sSup><m:d><m:dPr><m:begChr m:val="(" /><m:endChr m:val=")" /><m:sepChr m:val="" /><m:grow /></m:dPr><m:e><m:r><m:t>Y</m:t></m:r><m:r><m:rPr><m:sty m:val="p" /></m:rPr><m:t>,</m:t></m:r><m:acc><m:accPr><m:chr m:val="̂" /></m:accPr><m:e><m:r><m:t>l</m:t></m:r></m:e></m:acc></m:e></m:d></m:e><m:e><m:box><m:boxPr><m:opEmu m:val="on" /></m:boxPr><m:e><m:r><m:rPr><m:sty m:val="p" /></m:rPr><m:t>:=</m:t></m:r></m:e></m:box><m:f><m:fPr><m:type m:val="bar" /></m:fPr><m:num><m:sSup><m:e><m:r><m:t>R</m:t></m:r></m:e><m:sup><m:r><m:t>2</m:t></m:r></m:sup></m:sSup><m:d><m:dPr><m:begChr m:val="(" /><m:endChr m:val=")" /><m:sepChr m:val="" /><m:grow /></m:dPr><m:e><m:r><m:t>Y</m:t></m:r><m:r><m:rPr><m:sty m:val="p" /></m:rPr><m:t>,</m:t></m:r><m:acc><m:accPr><m:chr m:val="̂" /></m:accPr><m:e><m:r><m:t>l</m:t></m:r></m:e></m:acc><m:d><m:dPr><m:begChr m:val="(" /><m:endChr m:val=")" /><m:sepChr m:val="" /><m:grow /></m:dPr><m:e><m:r><m:t>X</m:t></m:r></m:e></m:d></m:e></m:d></m:num><m:den><m:sSup><m:e><m:r><m:t>R</m:t></m:r></m:e><m:sup><m:r><m:t>2</m:t></m:r></m:sup></m:sSup><m:d><m:dPr><m:begChr m:val="(" /><m:endChr m:val=")" /><m:sepChr m:val="" /><m:grow /></m:dPr><m:e><m:r><m:t>Y</m:t></m:r><m:r><m:rPr><m:sty m:val="p" /></m:rPr><m:t>,</m:t></m:r><m:sSub><m:e><m:acc><m:accPr><m:chr m:val="̃" /></m:accPr><m:e><m:r><m:t>l</m:t></m:r></m:e></m:acc></m:e><m:sub><m:r><m:t>0</m:t></m:r></m:sub></m:sSub><m:d><m:dPr><m:begChr m:val="(" /><m:endChr m:val=")" /><m:sepChr m:val="" /><m:grow /></m:dPr><m:e><m:acc><m:accPr><m:chr m:val="̃" /></m:accPr><m:e><m:r><m:t>X</m:t></m:r></m:e></m:acc></m:e></m:d></m:e></m:d></m:den></m:f><m:r><m:rPr><m:sty m:val="p" /></m:rPr><m:t>≤</m:t></m:r><m:r><m:t>1</m:t></m:r></m:e></m:mr></m:m></m:oMath></m:oMathPara></a14:m></a:p><a:p><a:pPr lvl="0" indent="0" marL="0"><a:spcBef><a:spcPts val="3000" /></a:spcBef><a:buNone /></a:pPr><a:r><a:rPr b="1" /><a:t>Simulation Results</a:t></a:r></a:p><a:p><a:pPr lvl="0" indent="0" marL="0"><a:buNone /></a:pPr><a:r><a:rPr /><a:t>Results of Simulation Study. Reported: mean ± sd. over five random train-test splits</a:t></a:r></a:p></p:txBody></p:sp></mc:Choice></mc:AlternateContent><p:graphicFrame><p:nvGraphicFramePr><p:cNvPr id="6" name="Content Placeholder 5" /><p:cNvGraphicFramePr><a:graphicFrameLocks noGrp="1" /></p:cNvGraphicFramePr><p:nvPr><p:ph idx="1" /></p:nvPr></p:nvGraphicFramePr><p:xfrm><a:off x="3568700" y="203200" /><a:ext cx="5105400" cy="4381500" /></p:xfrm><a:graphic><a:graphicData uri="http://schemas.openxmlformats.org/drawingml/2006/table"><a:tbl><a:tblPr firstRow="1" bandRow="1"><a:tableStyleId>{5C22544A-7EE6-4342-B048-85BDC9FD1C3A}</a:tableStyleId></a:tblPr><a:tblGrid><a:gridCol w="1270000" /><a:gridCol w="1270000" /><a:gridCol w="1270000" /><a:gridCol w="1270000" /></a:tblGrid><a:tr h="0"><a:tc><a:txBody><a:bodyPr /><a:lstStyle /><a:p><a:endParaRPr /></a:p></a:txBody><a:tcPr /></a:tc><a:tc><a:txBody><a:bodyPr /><a:lstStyle /><a:p><a:pPr lvl="0" indent="0" marL="0"><a:buNone /></a:pPr><a:r><a:rPr /><a:t>Baseline</a:t></a:r></a:p></a:txBody><a:tcPr /></a:tc><a:tc><a:txBody><a:bodyPr /><a:lstStyle /><a:p><a:pPr lvl="0" indent="0" marL="0"><a:buNone /></a:pPr><a:r><a:rPr /><a:t>Embedding</a:t></a:r></a:p></a:txBody><a:tcPr /></a:tc><a:tc><a:txBody><a:bodyPr /><a:lstStyle /><a:p><a:pPr lvl="0" indent="0" marL="0"><a:buNone /></a:pPr><a:r><a:rPr /><a:t>Deep</a:t></a:r></a:p></a:txBody><a:tcPr /></a:tc></a:tr><a:tr h="0"><a:tc><a:txBody><a:bodyPr /><a:lstStyle /><a:p><a:pPr lvl="0" indent="0" marL="0"><a:buNone /></a:pPr><a14:m><m:oMath xmlns:m="http://schemas.openxmlformats.org/officeDocument/2006/math"><m:sSup><m:e><m:r><m:t>r</m:t></m:r></m:e><m:sup><m:r><m:t>2</m:t></m:r></m:sup></m:sSup><m:d><m:dPr><m:begChr m:val="(" /><m:endChr m:val=")" /><m:sepChr m:val="" /><m:grow /></m:dPr><m:e><m:r><m:t>Y</m:t></m:r><m:r><m:rPr><m:sty m:val="p" /></m:rPr><m:t>,</m:t></m:r><m:sSub><m:e><m:acc><m:accPr><m:chr m:val="̂" /></m:accPr><m:e><m:r><m:t>l</m:t></m:r></m:e></m:acc></m:e><m:sub><m:r><m:t>0</m:t></m:r></m:sub></m:sSub></m:e></m:d></m:oMath></a14:m></a:p></a:txBody></a:tc><a:tc><a:txBody><a:bodyPr /><a:lstStyle /><a:p><a:pPr lvl="0" indent="0" marL="0"><a:buNone /></a:pPr><a14:m><m:oMath xmlns:m="http://schemas.openxmlformats.org/officeDocument/2006/math"><m:r><m:t>0.31</m:t></m:r><m:r><m:rPr><m:sty m:val="p" /></m:rPr><m:t>±</m:t></m:r><m:r><m:t>0.01</m:t></m:r></m:oMath></a14:m></a:p></a:txBody></a:tc><a:tc><a:txBody><a:bodyPr /><a:lstStyle /><a:p><a:pPr lvl="0" indent="0" marL="0"><a:buNone /></a:pPr><a14:m><m:oMath xmlns:m="http://schemas.openxmlformats.org/officeDocument/2006/math"><m:r><m:t>0.87</m:t></m:r><m:r><m:rPr><m:sty m:val="p" /></m:rPr><m:t>±</m:t></m:r><m:r><m:t>0.02</m:t></m:r></m:oMath></a14:m></a:p></a:txBody></a:tc><a:tc><a:txBody><a:bodyPr /><a:lstStyle /><a:p><a:pPr lvl="0" indent="0" marL="0"><a:buNone /></a:pPr><a14:m><m:oMath xmlns:m="http://schemas.openxmlformats.org/officeDocument/2006/math"><m:r><m:rPr><m:sty m:val="b" /></m:rPr><m:t>0.90</m:t></m:r><m:r><m:rPr><m:sty m:val="b" /></m:rPr><m:t>±</m:t></m:r><m:r><m:rPr><m:sty m:val="b" /></m:rPr><m:t>0.01</m:t></m:r></m:oMath></a14:m></a:p></a:txBody></a:tc></a:tr><a:tr h="0"><a:tc><a:txBody><a:bodyPr /><a:lstStyle /><a:p><a:pPr lvl="0" indent="0" marL="0"><a:buNone /></a:pPr><a14:m><m:oMath xmlns:m="http://schemas.openxmlformats.org/officeDocument/2006/math"><m:sSup><m:e><m:r><m:t>r</m:t></m:r></m:e><m:sup><m:r><m:t>2</m:t></m:r></m:sup></m:sSup><m:d><m:dPr><m:begChr m:val="(" /><m:endChr m:val=")" /><m:sepChr m:val="" /><m:grow /></m:dPr><m:e><m:r><m:t>D</m:t></m:r><m:r><m:rPr><m:sty m:val="p" /></m:rPr><m:t>,</m:t></m:r><m:sSub><m:e><m:acc><m:accPr><m:chr m:val="̂" /></m:accPr><m:e><m:r><m:t>m</m:t></m:r></m:e></m:acc></m:e><m:sub><m:r><m:t>0</m:t></m:r></m:sub></m:sSub></m:e></m:d></m:oMath></a14:m></a:p></a:txBody></a:tc><a:tc><a:txBody><a:bodyPr /><a:lstStyle /><a:p><a:pPr lvl="0" indent="0" marL="0"><a:buNone /></a:pPr><a14:m><m:oMath xmlns:m="http://schemas.openxmlformats.org/officeDocument/2006/math"><m:r><m:t>0.31</m:t></m:r><m:r><m:rPr><m:sty m:val="p" /></m:rPr><m:t>±</m:t></m:r><m:r><m:t>0.01</m:t></m:r></m:oMath></a14:m></a:p></a:txBody></a:tc><a:tc><a:txBody><a:bodyPr /><a:lstStyle /><a:p><a:pPr lvl="0" indent="0" marL="0"><a:buNone /></a:pPr><a14:m><m:oMath xmlns:m="http://schemas.openxmlformats.org/officeDocument/2006/math"><m:r><m:t>0.87</m:t></m:r><m:r><m:rPr><m:sty m:val="p" /></m:rPr><m:t>±</m:t></m:r><m:r><m:t>0.02</m:t></m:r></m:oMath></a14:m></a:p></a:txBody></a:tc><a:tc><a:txBody><a:bodyPr /><a:lstStyle /><a:p><a:pPr lvl="0" indent="0" marL="0"><a:buNone /></a:pPr><a14:m><m:oMath xmlns:m="http://schemas.openxmlformats.org/officeDocument/2006/math"><m:r><m:rPr><m:sty m:val="b" /></m:rPr><m:t>0.90</m:t></m:r><m:r><m:rPr><m:sty m:val="b" /></m:rPr><m:t>±</m:t></m:r><m:r><m:rPr><m:sty m:val="b" /></m:rPr><m:t>0.01</m:t></m:r></m:oMath></a14:m></a:p></a:txBody></a:tc></a:tr><a:tr h="0"><a:tc><a:txBody><a:bodyPr /><a:lstStyle /><a:p><a:pPr lvl="0" indent="0" marL="0"><a:buNone /></a:pPr><a14:m><m:oMath xmlns:m="http://schemas.openxmlformats.org/officeDocument/2006/math"><m:acc><m:accPr><m:chr m:val="̂" /></m:accPr><m:e><m:r><m:t>θ</m:t></m:r></m:e></m:acc></m:oMath></a14:m></a:p></a:txBody></a:tc><a:tc><a:txBody><a:bodyPr /><a:lstStyle /><a:p><a:pPr lvl="0" indent="0" marL="0"><a:buNone /></a:pPr><a14:m><m:oMath xmlns:m="http://schemas.openxmlformats.org/officeDocument/2006/math"><m:r><m:rPr><m:sty m:val="p" /></m:rPr><m:t>−</m:t></m:r><m:r><m:t>0.32</m:t></m:r><m:r><m:rPr><m:sty m:val="p" /></m:rPr><m:t>±</m:t></m:r><m:r><m:t>0.01</m:t></m:r></m:oMath></a14:m></a:p></a:txBody></a:tc><a:tc><a:txBody><a:bodyPr /><a:lstStyle /><a:p><a:pPr lvl="0" indent="0" marL="0"><a:buNone /></a:pPr><a14:m><m:oMath xmlns:m="http://schemas.openxmlformats.org/officeDocument/2006/math"><m:r><m:rPr><m:sty m:val="b" /></m:rPr><m:t>0.28</m:t></m:r><m:r><m:rPr><m:sty m:val="b" /></m:rPr><m:t>±</m:t></m:r><m:r><m:rPr><m:sty m:val="b" /></m:rPr><m:t>0.01</m:t></m:r></m:oMath></a14:m></a:p></a:txBody></a:tc><a:tc><a:txBody><a:bodyPr /><a:lstStyle /><a:p><a:pPr lvl="0" indent="0" marL="0"><a:buNone /></a:pPr><a14:m><m:oMath xmlns:m="http://schemas.openxmlformats.org/officeDocument/2006/math"><m:r><m:t>0.27</m:t></m:r><m:r><m:rPr><m:sty m:val="p" /></m:rPr><m:t>±</m:t></m:r><m:r><m:t>0.01</m:t></m:r></m:oMath></a14:m></a:p></a:txBody></a:tc></a:tr></a:tbl></a:graphicData></a:graphic></p:graphicFrame></p:spTree></p:cSld></p:sld>
</file>

<file path=ppt/slides/slide10.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p:sp><p:nvSpPr><p:cNvPr id="3" name="Content Placeholder 2" /><p:cNvSpPr><a:spLocks noGrp="1" /></p:cNvSpPr><p:nvPr><p:ph idx="1" /></p:nvPr></p:nvSpPr><p:spPr /><p:txBody><a:bodyPr /><a:lstStyle /><a:p><a:pPr lvl="0" indent="0" marL="0"><a:buNone /></a:pPr><a:r><a:rPr i="1" /><a:t>Higher = better (best in bold)</a:t></a:r></a:p><a:p><a:pPr lvl="0" indent="0" marL="0"><a:spcBef><a:spcPts val="3000" /></a:spcBef><a:buNone /></a:pPr><a:r><a:rPr b="1" /><a:t>Simulation Results - Predictive Performance</a:t></a:r></a:p></p:txBody></p:sp><p:pic><p:nvPicPr><p:cNvPr descr="images/R2_comp.png" id="0" name="Picture 1" /><p:cNvPicPr><a:picLocks noGrp="1" noChangeAspect="1" /></p:cNvPicPr><p:nvPr /></p:nvPicPr><p:blipFill><a:blip r:embed="rId2" /><a:stretch><a:fillRect /></a:stretch></p:blipFill><p:spPr bwMode="auto"><a:xfrm><a:off x="2692400" y="1193800" /><a:ext cx="3746500" cy="2882900" /></a:xfrm><a:prstGeom prst="rect"><a:avLst /></a:prstGeom><a:noFill /><a:ln w="9525"><a:noFill /><a:headEnd /><a:tailEnd /></a:ln></p:spPr></p:pic><p:sp><p:nvSpPr><p:cNvPr id="1" name="TextBox 3" /><p:cNvSpPr txBox="1" /><p:nvPr /></p:nvSpPr><p:spPr><a:xfrm><a:off x="457200" y="4076700" /><a:ext cx="8229600" cy="508000" /></a:xfrm><a:prstGeom prst="rect"><a:avLst /></a:prstGeom><a:noFill /></p:spPr><p:txBody><a:bodyPr /><a:lstStyle /><a:p><a:pPr lvl="0" indent="0" marL="0" algn="ctr"><a:buNone /></a:pPr><a:r><a:rPr /><a:t>Boxplots of </a:t></a:r><a14:m><m:oMath xmlns:m="http://schemas.openxmlformats.org/officeDocument/2006/math"><m:sSup><m:e><m:r><m:t>r</m:t></m:r></m:e><m:sup><m:r><m:t>2</m:t></m:r></m:sup></m:sSup></m:oMath></a14:m><a:r><a:rPr /><a:t>-Scores. As anticipated, the tabular data provides only </a:t></a:r><a14:m><m:oMath xmlns:m="http://schemas.openxmlformats.org/officeDocument/2006/math"><m:r><m:t>30</m:t></m:r><m:r><m:rPr><m:sty m:val="p" /></m:rPr><m:t>%</m:t></m:r></m:oMath></a14:m><a:r><a:rPr /><a:t> explanatory power, but the inclusion of unstructured data increases the predictable variance to approximately </a:t></a:r><a14:m><m:oMath xmlns:m="http://schemas.openxmlformats.org/officeDocument/2006/math"><m:r><m:t>90</m:t></m:r><m:r><m:rPr><m:sty m:val="p" /></m:rPr><m:t>%</m:t></m:r></m:oMath></a14:m><a:r><a:rPr /><a:t>.</a:t></a:r></a:p></p:txBody></p:sp><mc:AlternateContent xmlns:mc="http://schemas.openxmlformats.org/markup-compatibility/2006"><mc:Choice xmlns:a14="http://schemas.microsoft.com/office/drawing/2010/main" Requires="a14"><p:sp><p:nvSpPr><p:cNvPr id="3" name="Content Placeholder 2" /><p:cNvSpPr><a:spLocks noGrp="1" /></p:cNvSpPr><p:nvPr><p:ph idx="1" /></p:nvPr></p:nvSpPr><p:spPr /><p:txBody><a:bodyPr /><a:lstStyle /><a:p><a:pPr lvl="0" indent="0" marL="0"><a:spcBef><a:spcPts val="3000" /></a:spcBef><a:buNone /></a:pPr><a:r><a:rPr b="1" /><a:t>Simulation Results - Performance on </a:t></a:r><a14:m><m:oMath xmlns:m="http://schemas.openxmlformats.org/officeDocument/2006/math"><m:r><m:t>θ</m:t></m:r></m:oMath></a14:m></a:p></p:txBody></p:sp></mc:Choice></mc:AlternateContent><p:pic><p:nvPicPr><p:cNvPr descr="images/theta_comp.png" id="0" name="Picture 1" /><p:cNvPicPr><a:picLocks noGrp="1" noChangeAspect="1" /></p:cNvPicPr><p:nvPr /></p:nvPicPr><p:blipFill><a:blip r:embed="rId3" /><a:stretch><a:fillRect /></a:stretch></p:blipFill><p:spPr bwMode="auto"><a:xfrm><a:off x="2730500" y="1193800" /><a:ext cx="3683000" cy="2882900" /></a:xfrm><a:prstGeom prst="rect"><a:avLst /></a:prstGeom><a:noFill /><a:ln w="9525"><a:noFill /><a:headEnd /><a:tailEnd /></a:ln></p:spPr></p:pic><p:sp><p:nvSpPr><p:cNvPr id="1" name="TextBox 3" /><p:cNvSpPr txBox="1" /><p:nvPr /></p:nvSpPr><p:spPr><a:xfrm><a:off x="457200" y="4076700" /><a:ext cx="8229600" cy="508000" /></a:xfrm><a:prstGeom prst="rect"><a:avLst /></a:prstGeom><a:noFill /></p:spPr><p:txBody><a:bodyPr /><a:lstStyle /><a:p><a:pPr lvl="0" indent="0" marL="0" algn="ctr"><a:buNone /></a:pPr><a:r><a:rPr /><a:t>Boxplots of </a:t></a:r><a14:m><m:oMath xmlns:m="http://schemas.openxmlformats.org/officeDocument/2006/math"><m:acc><m:accPr><m:chr m:val="̂" /></m:accPr><m:e><m:r><m:t>θ</m:t></m:r></m:e></m:acc></m:oMath></a14:m><a:r><a:rPr /><a:t>. The Embedding Model and Deep Model have similar estimates. This indicates a stable and information-rich embedding </a:t></a:r><a14:m><m:oMath xmlns:m="http://schemas.openxmlformats.org/officeDocument/2006/math"><m:sSub><m:e><m:r><m:t>H</m:t></m:r></m:e><m:sub><m:r><m:t>E</m:t></m:r></m:sub></m:sSub></m:oMath></a14:m><a:r><a:rPr /><a:t>, which provides a high explanatory contribution independent of the subsequent ML method for predicting </a:t></a:r><a14:m><m:oMath xmlns:m="http://schemas.openxmlformats.org/officeDocument/2006/math"><m:r><m:t>Y</m:t></m:r></m:oMath></a14:m><a:r><a:rPr /><a:t> and </a:t></a:r><a14:m><m:oMath xmlns:m="http://schemas.openxmlformats.org/officeDocument/2006/math"><m:r><m:t>D</m:t></m:r></m:oMath></a14:m><a:r><a:rPr /><a:t>. </a:t></a:r><a14:m><m:oMath xmlns:m="http://schemas.openxmlformats.org/officeDocument/2006/math"><m:sSub><m:e><m:r><m:t>θ</m:t></m:r></m:e><m:sub><m:r><m:t>0</m:t></m:r></m:sub></m:sSub></m:oMath></a14:m><a:r><a:rPr /><a:t> represents the upper bound.</a:t></a:r></a:p></p:txBody></p:sp><mc:AlternateContent xmlns:mc="http://schemas.openxmlformats.org/markup-compatibility/2006"><mc:Choice xmlns:a14="http://schemas.microsoft.com/office/drawing/2010/main" Requires="a14"><p:sp><p:nvSpPr><p:cNvPr id="3" name="Content Placeholder 2" /><p:cNvSpPr><a:spLocks noGrp="1" /></p:cNvSpPr><p:nvPr><p:ph idx="1" /></p:nvPr></p:nvSpPr><p:spPr /><p:txBody><a:bodyPr /><a:lstStyle /><a:p><a:pPr lvl="0" indent="0" marL="0"><a:spcBef><a:spcPts val="3000" /></a:spcBef><a:buNone /></a:pPr><a:r><a:rPr b="1" /><a:t>Simulation Results - Continous Estimates on </a:t></a:r><a14:m><m:oMath xmlns:m="http://schemas.openxmlformats.org/officeDocument/2006/math"><m:r><m:t>θ</m:t></m:r></m:oMath></a14:m></a:p></p:txBody></p:sp></mc:Choice></mc:AlternateContent><p:pic><p:nvPicPr><p:cNvPr descr="images/cont_dml.png" id="0" name="Picture 1" /><p:cNvPicPr><a:picLocks noGrp="1" noChangeAspect="1" /></p:cNvPicPr><p:nvPr /></p:nvPicPr><p:blipFill><a:blip r:embed="rId4" /><a:stretch><a:fillRect /></a:stretch></p:blipFill><p:spPr bwMode="auto"><a:xfrm><a:off x="2590800" y="1193800" /><a:ext cx="3975100" cy="2882900" /></a:xfrm><a:prstGeom prst="rect"><a:avLst /></a:prstGeom><a:noFill /><a:ln w="9525"><a:noFill /><a:headEnd /><a:tailEnd /></a:ln></p:spPr></p:pic><p:sp><p:nvSpPr><p:cNvPr id="1" name="TextBox 3" /><p:cNvSpPr txBox="1" /><p:nvPr /></p:nvSpPr><p:spPr><a:xfrm><a:off x="457200" y="4076700" /><a:ext cx="8229600" cy="508000" /></a:xfrm><a:prstGeom prst="rect"><a:avLst /></a:prstGeom><a:noFill /></p:spPr><p:txBody><a:bodyPr /><a:lstStyle /><a:p><a:pPr lvl="0" indent="0" marL="0" algn="ctr"><a:buNone /></a:pPr><a:r><a:rPr /><a:t>Continuous estimation of </a:t></a:r><a14:m><m:oMath xmlns:m="http://schemas.openxmlformats.org/officeDocument/2006/math"><m:sSub><m:e><m:r><m:t>θ</m:t></m:r></m:e><m:sub><m:r><m:t>0</m:t></m:r></m:sub></m:sSub></m:oMath></a14:m><a:r><a:rPr /><a:t>. Both, the </a:t></a:r><a14:m><m:oMath xmlns:m="http://schemas.openxmlformats.org/officeDocument/2006/math"><m:sSup><m:e><m:r><m:t>r</m:t></m:r></m:e><m:sup><m:r><m:t>2</m:t></m:r></m:sup></m:sSup></m:oMath></a14:m><a:r><a:rPr /><a:t>-scores and the coefficient estimates gradually converge to stable values over the epochs.</a:t></a:r></a:p></p:txBody></p:sp><p:sp><p:nvSpPr><p:cNvPr id="3" name="Content Placeholder 2" /><p:cNvSpPr><a:spLocks noGrp="1" /></p:cNvSpPr><p:nvPr><p:ph idx="1" /></p:nvPr></p:nvSpPr><p:spPr /><p:txBody><a:bodyPr /><a:lstStyle /><a:p><a:pPr lvl="0" indent="0" marL="0"><a:spcBef><a:spcPts val="3000" /></a:spcBef><a:buNone /></a:pPr><a:r><a:rPr b="1" /><a:t>Future Research Direction</a:t></a:r></a:p><a:p><a:pPr lvl="0" indent="0" marL="0"><a:buNone /></a:pPr></a:p><a:p><a:pPr lvl="0" /><a:r><a:rPr /><a:t>Further applications (We are really looking forward to possible collaborations)</a:t></a:r></a:p><a:p><a:pPr lvl="0" /><a:r><a:rPr /><a:t>Extensions of the </a:t></a:r><a:r><a:rPr><a:hlinkClick r:id="rId5" /></a:rPr><a:t>DoubleML package</a:t></a:r></a:p><a:p><a:pPr lvl="0" /><a:r><a:rPr /><a:t>Using multiple time periods</a:t></a:r></a:p><a:p><a:pPr lvl="0" /><a:r><a:rPr /><a:t>Case Studies</a:t></a:r></a:p></p:txBody></p:sp></p:spTree></p:cSld></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References</a:t>
                </a:r>
              </a:p>
              <a:p>
                <a:pPr lvl="0" indent="0" marL="0">
                  <a:buNone/>
                </a:pPr>
                <a:r>
                  <a:rPr/>
                  <a:t>Bach, Philipp, Victor Chernozhukov, Malte S Kurz, and Martin Spindler. 2022. “DoubleML-an Object-Oriented Implementation of Double Machine Learning in Python.” </a:t>
                </a:r>
                <a:r>
                  <a:rPr i="1"/>
                  <a:t>Journal of Machine Learning Research</a:t>
                </a:r>
                <a:r>
                  <a:rPr/>
                  <a:t> 23: 53–51.</a:t>
                </a:r>
              </a:p>
              <a:p>
                <a:pPr lvl="0" indent="0" marL="0">
                  <a:buNone/>
                </a:pPr>
                <a:r>
                  <a:rPr/>
                  <a:t>Chernozhukov, Victor, Denis Chetverikov, Mert Demirer, Esther Duflo, Christian Hansen, Whitney Newey, and James Robins. 2018. “Double/Debiased Machine Learning for Treatment and Structural Parameters.” </a:t>
                </a:r>
                <a:r>
                  <a:rPr i="1"/>
                  <a:t>The Econometrics Journal</a:t>
                </a:r>
                <a:r>
                  <a:rPr/>
                  <a:t> 21 (1): C1–68. </a:t>
                </a:r>
                <a:r>
                  <a:rPr>
                    <a:hlinkClick r:id="rId3"/>
                  </a:rPr>
                  <a:t>https://onlinelibrary.wiley.com/doi/abs/10.1111/ectj.12097</a:t>
                </a:r>
                <a:r>
                  <a:rPr/>
                  <a:t>.</a:t>
                </a:r>
              </a:p>
              <a:p>
                <a:pPr lvl="0" indent="0" marL="0">
                  <a:spcBef>
                    <a:spcPts val="3000"/>
                  </a:spcBef>
                  <a:buNone/>
                </a:pPr>
                <a:r>
                  <a:rPr b="1"/>
                  <a:t>Affiliations</a:t>
                </a:r>
              </a:p>
              <a:p>
                <a:pPr lvl="0" indent="0" marL="0">
                  <a:buNone/>
                </a:pPr>
              </a:p>
              <a:p>
                <a:pPr lvl="0" indent="0" marL="0">
                  <a:buNone/>
                </a:pPr>
                <a:r>
                  <a:rPr/>
                  <a:t>University of Hamburg</a:t>
                </a:r>
              </a:p>
              <a:p>
                <a:pPr lvl="0" indent="0" marL="0">
                  <a:buNone/>
                </a:pPr>
                <a:r>
                  <a:rPr/>
                  <a:t>https://www.bwl.uni-hamburg.de/en/statistik/allgemein.html</a:t>
                </a:r>
              </a:p>
              <a:p>
                <a:pPr lvl="0" indent="0" marL="0">
                  <a:buNone/>
                </a:pPr>
              </a:p>
              <a:p>
                <a:pPr lvl="0" indent="0" marL="0">
                  <a:buNone/>
                </a:pPr>
                <a:r>
                  <a:rPr/>
                  <a:t>Massachusetts Institute of Technology</a:t>
                </a:r>
              </a:p>
              <a:p>
                <a:pPr lvl="0" indent="0" marL="0">
                  <a:buNone/>
                </a:pPr>
                <a:r>
                  <a:rPr/>
                  <a:t>https://stat.mit.edu/about/</a:t>
                </a:r>
              </a:p>
              <a:p>
                <a:pPr lvl="0" indent="0" marL="0">
                  <a:buNone/>
                </a:pPr>
              </a:p>
              <a:p>
                <a:pPr lvl="0" indent="0" marL="0">
                  <a:buNone/>
                </a:pPr>
                <a:r>
                  <a:rPr/>
                  <a:t>Economic AI</a:t>
                </a:r>
              </a:p>
              <a:p>
                <a:pPr lvl="0" indent="0" marL="0">
                  <a:buNone/>
                </a:pPr>
                <a:r>
                  <a:rPr/>
                  <a:t>https://economicai.com/</a:t>
                </a:r>
              </a:p>
              <a:p>
                <a:pPr lvl="0" indent="0" marL="0">
                  <a:buNone/>
                </a:pPr>
              </a:p>
              <a:p>
                <a:pPr lvl="0" indent="0" marL="0">
                  <a:buNone/>
                </a:pPr>
                <a:r>
                  <a:rPr/>
                  <a:t>DoubleML</a:t>
                </a:r>
              </a:p>
              <a:p>
                <a:pPr lvl="0" indent="0" marL="0">
                  <a:buNone/>
                </a:pPr>
                <a:r>
                  <a:rPr/>
                  <a:t>https://docs.doubleml.org/stable/index.html</a:t>
                </a:r>
              </a:p>
              <a:p>
                <a:pPr lvl="0" indent="0" marL="0">
                  <a:buNone/>
                </a:pPr>
                <a:r>
                  <a:rPr/>
                  <a:t>. . .</a:t>
                </a:r>
              </a:p>
              <a:p>
                <a:pPr lvl="0" indent="0" marL="0">
                  <a:buNone/>
                </a:pPr>
                <a14:m>
                  <m:oMath xmlns:m="http://schemas.openxmlformats.org/officeDocument/2006/math">
                    <m:r>
                      <m:rPr>
                        <m:sty m:val="p"/>
                      </m:rPr>
                      <m:t>⇒</m:t>
                    </m:r>
                  </m:oMath>
                </a14:m>
                <a:r>
                  <a:rPr/>
                  <a:t> </a:t>
                </a:r>
                <a:r>
                  <a:rPr b="1"/>
                  <a:t>Thanks for your Attention!</a:t>
                </a:r>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2024-05-09T10:05:10Z</dcterms:created>
  <dcterms:modified xsi:type="dcterms:W3CDTF">2024-05-09T10:05:10Z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bibliography">
    <vt:lpwstr/>
  </property>
  <property fmtid="{D5CDD505-2E9C-101B-9397-08002B2CF9AE}" pid="4" name="header-includes">
    <vt:lpwstr/>
  </property>
  <property fmtid="{D5CDD505-2E9C-101B-9397-08002B2CF9AE}" pid="5" name="include-after">
    <vt:lpwstr/>
  </property>
  <property fmtid="{D5CDD505-2E9C-101B-9397-08002B2CF9AE}" pid="6" name="include-before">
    <vt:lpwstr/>
  </property>
  <property fmtid="{D5CDD505-2E9C-101B-9397-08002B2CF9AE}" pid="7" name="labels">
    <vt:lpwstr/>
  </property>
  <property fmtid="{D5CDD505-2E9C-101B-9397-08002B2CF9AE}" pid="8" name="nocite">
    <vt:lpwstr>@bach2022doubleml</vt:lpwstr>
  </property>
  <property fmtid="{D5CDD505-2E9C-101B-9397-08002B2CF9AE}" pid="9" name="pptx">
    <vt:lpwstr/>
  </property>
  <property fmtid="{D5CDD505-2E9C-101B-9397-08002B2CF9AE}" pid="10" name="revealjs-plugins">
    <vt:lpwstr/>
  </property>
  <property fmtid="{D5CDD505-2E9C-101B-9397-08002B2CF9AE}" pid="11" name="toc-title">
    <vt:lpwstr>Table of contents</vt:lpwstr>
  </property>
</Properties>
</file>