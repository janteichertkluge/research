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322F"/>
    <a:srgbClr val="1A1A1A"/>
    <a:srgbClr val="E03135"/>
    <a:srgbClr val="C16069"/>
    <a:srgbClr val="FF3418"/>
    <a:srgbClr val="3A4152"/>
    <a:srgbClr val="4B556B"/>
    <a:srgbClr val="989A9C"/>
    <a:srgbClr val="FFF8E7"/>
    <a:srgbClr val="FFF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1847"/>
    <p:restoredTop autoAdjust="0" sz="94696"/>
  </p:normalViewPr>
  <p:slideViewPr>
    <p:cSldViewPr snapToGrid="0" snapToObjects="1">
      <p:cViewPr varScale="1">
        <p:scale>
          <a:sx d="100" n="105"/>
          <a:sy d="100" n="105"/>
        </p:scale>
        <p:origin x="480" y="176"/>
      </p:cViewPr>
      <p:guideLst>
        <p:guide orient="horz" pos="2160"/>
        <p:guide pos="384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1302"/>
            <a:ext cx="9144000" cy="1646498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DC322F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DC322F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3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9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rgbClr val="DC322F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26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1/31/22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305052-7E31-8548-802E-BBA9CB132D1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A9FF2A29-0C17-AD44-9B62-E2C61042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22565074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514350" eaLnBrk="1" hangingPunct="1" latinLnBrk="0" rtl="0">
        <a:lnSpc>
          <a:spcPct val="90000"/>
        </a:lnSpc>
        <a:spcBef>
          <a:spcPct val="0"/>
        </a:spcBef>
        <a:buNone/>
        <a:defRPr b="1" baseline="0" i="0" kern="1200" sz="3200">
          <a:solidFill>
            <a:srgbClr val="DC322F"/>
          </a:solidFill>
          <a:latin charset="0" panose="020B0703020202090204" pitchFamily="34" typeface="Trebuchet MS"/>
          <a:ea typeface="+mj-ea"/>
          <a:cs charset="-79" panose="020B0502020104020203" pitchFamily="34" typeface="Gill Sans"/>
        </a:defRPr>
      </a:lvl1pPr>
    </p:titleStyle>
    <p:bodyStyle>
      <a:lvl1pPr algn="l" defTabSz="514350" eaLnBrk="1" hangingPunct="1" indent="-128588" latinLnBrk="0" marL="12858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1pPr>
      <a:lvl2pPr algn="l" defTabSz="514350" eaLnBrk="1" hangingPunct="1" indent="-128588" latinLnBrk="0" marL="385763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2pPr>
      <a:lvl3pPr algn="l" defTabSz="514350" eaLnBrk="1" hangingPunct="1" indent="-128588" latinLnBrk="0" marL="64293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3pPr>
      <a:lvl4pPr algn="l" defTabSz="514350" eaLnBrk="1" hangingPunct="1" indent="-128588" latinLnBrk="0" marL="900113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4pPr>
      <a:lvl5pPr algn="l" defTabSz="514350" eaLnBrk="1" hangingPunct="1" indent="-128588" latinLnBrk="0" marL="1157288" rtl="0">
        <a:lnSpc>
          <a:spcPts val="2400"/>
        </a:lnSpc>
        <a:spcBef>
          <a:spcPts val="1600"/>
        </a:spcBef>
        <a:buFont charset="0" panose="020B0604020202020204" pitchFamily="34" typeface="Arial"/>
        <a:buChar char="•"/>
        <a:defRPr b="0" baseline="0" i="0" kern="1200" sz="1800">
          <a:solidFill>
            <a:srgbClr val="1A1A1A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5pPr>
      <a:lvl6pPr algn="l" defTabSz="514350" eaLnBrk="1" hangingPunct="1" indent="-128588" latinLnBrk="0" marL="141446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indent="-128588" latinLnBrk="0" marL="167163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indent="-128588" latinLnBrk="0" marL="1928813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indent="-128588" latinLnBrk="0" marL="2185988" rtl="0">
        <a:lnSpc>
          <a:spcPct val="90000"/>
        </a:lnSpc>
        <a:spcBef>
          <a:spcPts val="281"/>
        </a:spcBef>
        <a:buFont charset="0" panose="020B0604020202020204" pitchFamily="34" typeface="Arial"/>
        <a:buChar char="•"/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514350" eaLnBrk="1" hangingPunct="1" latinLnBrk="0" marL="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1pPr>
      <a:lvl2pPr algn="l" defTabSz="514350" eaLnBrk="1" hangingPunct="1" latinLnBrk="0" marL="2571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2pPr>
      <a:lvl3pPr algn="l" defTabSz="514350" eaLnBrk="1" hangingPunct="1" latinLnBrk="0" marL="5143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3pPr>
      <a:lvl4pPr algn="l" defTabSz="514350" eaLnBrk="1" hangingPunct="1" latinLnBrk="0" marL="7715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4pPr>
      <a:lvl5pPr algn="l" defTabSz="514350" eaLnBrk="1" hangingPunct="1" latinLnBrk="0" marL="10287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5pPr>
      <a:lvl6pPr algn="l" defTabSz="514350" eaLnBrk="1" hangingPunct="1" latinLnBrk="0" marL="128587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6pPr>
      <a:lvl7pPr algn="l" defTabSz="514350" eaLnBrk="1" hangingPunct="1" latinLnBrk="0" marL="154305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7pPr>
      <a:lvl8pPr algn="l" defTabSz="514350" eaLnBrk="1" hangingPunct="1" latinLnBrk="0" marL="1800225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8pPr>
      <a:lvl9pPr algn="l" defTabSz="514350" eaLnBrk="1" hangingPunct="1" latinLnBrk="0" marL="2057400" rtl="0">
        <a:defRPr kern="1200" sz="1013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Reading Group 20/03/2024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11302"/>
            <a:ext cx="9144000" cy="164649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 Musfiqur Rahman, Murat Kocaoglu (2024): Modular Learning of Deep Causal Generative Models for High-dimensional Causal Inference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Background - Structural Causal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An SCM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M</m:t>
                    </m:r>
                  </m:oMath>
                </a14:m>
                <a:r>
                  <a:rPr/>
                  <a:t> is a </a:t>
                </a:r>
                <a14:m>
                  <m:oMath xmlns:m="http://schemas.openxmlformats.org/officeDocument/2006/math">
                    <m:r>
                      <m:t>5</m:t>
                    </m:r>
                  </m:oMath>
                </a14:m>
                <a:r>
                  <a:rPr/>
                  <a:t>-tuple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  <m:scr m:val="script"/>
                          </m:rPr>
                          <m:t>V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  <m:scr m:val="script"/>
                          </m:rPr>
                          <m:t>N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  <m:scr m:val="script"/>
                          </m:rPr>
                          <m:t>U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  <m:scr m:val="script"/>
                          </m:rPr>
                          <m:t>F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/>
                <a:r>
                  <a:rPr/>
                  <a:t>Each observed variable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script"/>
                      </m:rPr>
                      <m:t>V</m:t>
                    </m:r>
                  </m:oMath>
                </a14:m>
                <a:r>
                  <a:rPr/>
                  <a:t> is realized as an evaluation of the function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script"/>
                      </m:rPr>
                      <m:t>F</m:t>
                    </m:r>
                  </m:oMath>
                </a14:m>
                <a:r>
                  <a:rPr/>
                  <a:t> looks at a subset of the remaining observed variables</a:t>
                </a:r>
              </a:p>
              <a:p>
                <a:pPr lvl="1"/>
                <a:r>
                  <a:rPr/>
                  <a:t>Remaining observed variables </a:t>
                </a:r>
                <a14:m>
                  <m:oMath xmlns:m="http://schemas.openxmlformats.org/officeDocument/2006/math">
                    <m:r>
                      <m:t>P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⊂</m:t>
                    </m:r>
                    <m:r>
                      <m:rPr>
                        <m:sty m:val="p"/>
                        <m:scr m:val="script"/>
                      </m:rPr>
                      <m:t>V</m:t>
                    </m:r>
                  </m:oMath>
                </a14:m>
                <a:r>
                  <a:rPr/>
                  <a:t> (Parent Set of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Unobserved exogenous noise variable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script"/>
                      </m:rPr>
                      <m:t>N</m:t>
                    </m:r>
                  </m:oMath>
                </a14:m>
              </a:p>
              <a:p>
                <a:pPr lvl="1"/>
                <a:r>
                  <a:rPr/>
                  <a:t>Unobserved confounding variable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script"/>
                      </m:rPr>
                      <m:t>U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m:t>.</m:t>
                        </m:r>
                      </m:e>
                    </m:d>
                  </m:oMath>
                </a14:m>
                <a:r>
                  <a:rPr/>
                  <a:t> is a product joint distribution over all unobserved variables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N</m:t>
                    </m:r>
                    <m:r>
                      <m:rPr>
                        <m:sty m:val="p"/>
                      </m:rPr>
                      <m:t>∪</m:t>
                    </m:r>
                    <m:r>
                      <m:rPr>
                        <m:sty m:val="p"/>
                        <m:scr m:val="script"/>
                      </m:rPr>
                      <m:t>U</m:t>
                    </m:r>
                  </m:oMath>
                </a14:m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Background - SCMs and Causal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Each SCM induces a directed graph called the causal graph or acyclic directed mixed graph (ADMG)</a:t>
                </a:r>
              </a:p>
              <a:p>
                <a:pPr lvl="0"/>
                <a:r>
                  <a:rPr/>
                  <a:t>In the context of this paper, the graph is still acyclic, but no longer a DAG</a:t>
                </a:r>
              </a:p>
              <a:p>
                <a:pPr lvl="1"/>
                <a:r>
                  <a:rPr/>
                  <a:t>The graph can handle bidirectional edges (e.g. 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↔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) to represent unobserved confounders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called an ancestor of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if there is a directed path from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A subset </a:t>
                </a:r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⊂</m:t>
                    </m:r>
                    <m:r>
                      <m:t>G</m:t>
                    </m:r>
                  </m:oMath>
                </a14:m>
                <a:r>
                  <a:rPr/>
                  <a:t> is called a c-component if it is a maximal set of nodes in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that are connected by bi-directed paths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Perform Causal Inference, e.g. evaluating the causal effect of an intervention on a system of interest</a:t>
            </a:r>
          </a:p>
          <a:p>
            <a:pPr lvl="0"/>
            <a:r>
              <a:rPr/>
              <a:t>Today, most of our datasets contain high-dimensional variables, such as images</a:t>
            </a:r>
          </a:p>
          <a:p>
            <a:pPr lvl="0"/>
            <a:r>
              <a:rPr/>
              <a:t>Modern deep learning architectures can handle high dimensional data and solve ML problems such as prediction or learning distributions</a:t>
            </a:r>
          </a:p>
          <a:p>
            <a:pPr lvl="0"/>
            <a:r>
              <a:rPr/>
              <a:t>However, they are not designed to perform causal inference</a:t>
            </a:r>
          </a:p>
          <a:p>
            <a:pPr lvl="1"/>
            <a:r>
              <a:rPr/>
              <a:t>They fail to generalize where there exists spurious correlations in the data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Main Example of the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Healthcare dataset with Symptoms, Diagnosis and XrayImages of a collection of patients</a:t>
            </a:r>
          </a:p>
          <a:p>
            <a:pPr lvl="1"/>
            <a:r>
              <a:rPr/>
              <a:t>Contains a mixture data from two hospitals in different cities where one of the cities is more wealthy, where patients are less likely to fall sick on average</a:t>
            </a:r>
          </a:p>
          <a:p>
            <a:pPr lvl="0"/>
            <a:r>
              <a:rPr/>
              <a:t>Hospital location  acts as a latent confounder that affect both the Symptoms and Diagnosis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Main Example of the paper</a:t>
            </a:r>
          </a:p>
        </p:txBody>
      </p:sp>
      <p:pic>
        <p:nvPicPr>
          <p:cNvPr descr="imgs/main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816100"/>
            <a:ext cx="86360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Causal Graph of the main example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Main Idea of the paper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paper proposes a modular sampling-based framework for deep causal generative models</a:t>
                </a:r>
              </a:p>
              <a:p>
                <a:pPr lvl="1"/>
                <a:r>
                  <a:rPr/>
                  <a:t>Collect observational samples and use these samples to estimate the interventional distribution</a:t>
                </a:r>
              </a:p>
              <a:p>
                <a:pPr lvl="0"/>
                <a:r>
                  <a:rPr/>
                  <a:t>In this paper,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script"/>
                          </m:rPr>
                          <m:t>L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script"/>
                          </m:rP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script"/>
                          </m:rP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distributions as notation for observational, interventional, and counterfactual distributions respectively</a:t>
                </a:r>
              </a:p>
              <a:p>
                <a:pPr lvl="0"/>
                <a:r>
                  <a:rPr/>
                  <a:t>Using deep learning architectures that mimic the causal structure of the system</a:t>
                </a:r>
              </a:p>
              <a:p>
                <a:pPr lvl="0"/>
                <a:r>
                  <a:rPr/>
                  <a:t>Using pre-trained generative models like DALL-E, ChatGPT or Bard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Main Idea of the paper</a:t>
            </a:r>
          </a:p>
        </p:txBody>
      </p:sp>
      <p:pic>
        <p:nvPicPr>
          <p:cNvPr descr="imgs/main_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866900"/>
            <a:ext cx="105156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Deep Causal Generative Model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Deep Causal Generative Models with Unobserved Confounders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a SCM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M</m:t>
                    </m:r>
                  </m:oMath>
                </a14:m>
                <a:r>
                  <a:rPr/>
                  <a:t> be made up of functions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P</m:t>
                        </m:r>
                        <m:sSub>
                          <m:e>
                            <m:r>
                              <m:t>a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A neural net architecture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G</m:t>
                    </m:r>
                  </m:oMath>
                </a14:m>
                <a:r>
                  <a:rPr/>
                  <a:t> is called a deep causal generative model (DCM) for an ADMG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inducing a distribution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if it is composed of a collection of neural nets, one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for each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script"/>
                      </m:rPr>
                      <m:t>V</m:t>
                    </m:r>
                  </m:oMath>
                </a14:m>
                <a:r>
                  <a:rPr/>
                  <a:t> such that</a:t>
                </a:r>
              </a:p>
              <a:p>
                <a:pPr lvl="0"/>
                <a:r>
                  <a:rPr/>
                  <a:t>Each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accepts a sufficiently high-dimensional noise vector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The output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input to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⇔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t>P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G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⇔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↔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G</m:t>
                    </m:r>
                  </m:oMath>
                </a14:m>
                <a:r>
                  <a:rPr/>
                  <a:t> will contain </a:t>
                </a:r>
                <a:r>
                  <a:rPr b="1"/>
                  <a:t>one neural net per observed variable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G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</p:txBody>
          </p:sp>
        </mc:Choice>
      </mc:AlternateContent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><a:extLst><a:ext uri="{FF2B5EF4-FFF2-40B4-BE49-F238E27FC236}"><a16:creationId id="{2ECFDBC1-527D-3041-984A-EF5E7E9B7495}" xmlns:a16="http://schemas.microsoft.com/office/drawing/2014/main" /></a:ext></a:extLst></p:cNvPr><p:cNvSpPr><a:spLocks noGrp="1" /></p:cNvSpPr><p:nvPr><p:ph type="title" /></p:nvPr></p:nvSpPr><p:spPr><a:xfrm><a:off x="838200" y="365129" /><a:ext cx="10515600" cy="1325563" /></a:xfrm><a:prstGeom prst="rect"><a:avLst /></a:prstGeom></p:spPr><p:txBody><a:bodyPr /><a:lstStyle /><a:p><a:pPr lvl="0" indent="0" marL="0"><a:buNone /></a:pPr><a:r><a:rPr /><a:t>Intuition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><a:extLst><a:ext uri="{FF2B5EF4-FFF2-40B4-BE49-F238E27FC236}"><a16:creationId id="{63FA7BF1-44B1-744C-AB68-4BB0A6A5977E}" xmlns:a16="http://schemas.microsoft.com/office/drawing/2014/main" /></a:ext></a:extLst></p:cNvPr><p:cNvSpPr><a:spLocks noGrp="1" /></p:cNvSpPr><p:nvPr><p:ph idx="1" sz="half" /></p:nvPr></p:nvSpPr><p:spPr /><p:txBody><a:bodyPr /><a:lstStyle /><a:p><a:pPr lvl="0" /><a:r><a:rPr /><a:t>Let </a:t></a:r><a14:m><m:oMath xmlns:m="http://schemas.openxmlformats.org/officeDocument/2006/math"><m:r><m:t>D</m:t></m:r><m:r><m:rPr><m:sty m:val="p" /></m:rPr><m:t>∼</m:t></m:r><m:r><m:t>P</m:t></m:r><m:d><m:dPr><m:begChr m:val="(" /><m:endChr m:val=")" /><m:sepChr m:val="" /><m:grow /></m:dPr><m:e><m:r><m:rPr><m:sty m:val="p" /><m:scr m:val="script" /></m:rPr><m:t>V</m:t></m:r></m:e></m:d></m:oMath></a14:m><a:r><a:rPr /><a:t> be an observational sample</a:t></a:r></a:p><a:p><a:pPr lvl="0" /><a:r><a:rPr /><a:t>Train a DCM </a:t></a:r><a14:m><m:oMath xmlns:m="http://schemas.openxmlformats.org/officeDocument/2006/math"><m:r><m:rPr><m:sty m:val="p" /><m:scr m:val="double-struck" /></m:rPr><m:t>G</m:t></m:r></m:oMath></a14:m><a:r><a:rPr /><a:t> that fits the observational distribution </a:t></a:r><a14:m><m:oMath xmlns:m="http://schemas.openxmlformats.org/officeDocument/2006/math"><m:r><m:t>P</m:t></m:r><m:d><m:dPr><m:begChr m:val="(" /><m:endChr m:val=")" /><m:sepChr m:val="" /><m:grow /></m:dPr><m:e><m:r><m:rPr><m:sty m:val="p" /><m:scr m:val="script" /></m:rPr><m:t>V</m:t></m:r></m:e></m:d></m:oMath></a14:m><a:r><a:rPr /><a:t> to sample the interventional distribution </a:t></a:r><a14:m><m:oMath xmlns:m="http://schemas.openxmlformats.org/officeDocument/2006/math"><m:sSub><m:e><m:r><m:rPr><m:sty m:val="p" /><m:scr m:val="script" /></m:rPr><m:t>L</m:t></m:r></m:e><m:sub><m:r><m:t>2</m:t></m:r></m:sub></m:sSub></m:oMath></a14:m></a:p><a:p><a:pPr lvl="0" /><a:r><a:rPr /><a:t>Training involves identifying which causal mechanisms should be trained together based on their dependencies in the causal graph</a:t></a:r></a:p><a:p><a:pPr lvl="0" /><a:r><a:rPr /><a:t>Start with the first neural network </a:t></a:r><a14:m><m:oMath xmlns:m="http://schemas.openxmlformats.org/officeDocument/2006/math"><m:sSub><m:e><m:r><m:rPr><m:sty m:val="p" /><m:scr m:val="double-struck" /></m:rPr><m:t>G</m:t></m:r></m:e><m:sub><m:sSub><m:e><m:r><m:t>Z</m:t></m:r></m:e><m:sub><m:r><m:t>1</m:t></m:r></m:sub></m:sSub></m:sub></m:sSub><m:r><m:rPr><m:sty m:val="p" /></m:rPr><m:t>∈</m:t></m:r><m:r><m:rPr><m:sty m:val="p" /><m:scr m:val="double-struck" /></m:rPr><m:t>G</m:t></m:r></m:oMath></a14:m><a:r><a:rPr /><a:t> to learn a mapping to sample </a:t></a:r><a14:m><m:oMath xmlns:m="http://schemas.openxmlformats.org/officeDocument/2006/math"><m:r><m:t>P</m:t></m:r><m:d><m:dPr><m:begChr m:val="(" /><m:endChr m:val=")" /><m:sepChr m:val="" /><m:grow /></m:dPr><m:e><m:sSub><m:e><m:r><m:t>Z</m:t></m:r></m:e><m:sub><m:r><m:t>1</m:t></m:r></m:sub></m:sSub><m:r><m:rPr><m:sty m:val="p" /></m:rPr><m:t>|</m:t></m:r><m:sSub><m:e><m:r><m:t>Z</m:t></m:r></m:e><m:sub><m:r><m:t>3</m:t></m:r></m:sub></m:sSub><m:r><m:rPr><m:sty m:val="p" /></m:rPr><m:t>,</m:t></m:r><m:sSub><m:e><m:r><m:t>X</m:t></m:r></m:e><m:sub><m:r><m:t>1</m:t></m:r></m:sub></m:sSub></m:e></m:d></m:oMath></a14:m></a:p><a:p><a:pPr lvl="0" /><a:r><a:rPr /><a:t>The training preserve the integrity of c-components and factorize the joint distribution of them to yield </a:t></a:r><a14:m><m:oMath xmlns:m="http://schemas.openxmlformats.org/officeDocument/2006/math"><m:r><m:t>P</m:t></m:r><m:d><m:dPr><m:begChr m:val="(" /><m:endChr m:val=")" /><m:sepChr m:val="" /><m:grow /></m:dPr><m:e><m:r><m:rPr><m:sty m:val="p" /><m:scr m:val="script" /></m:rPr><m:t>V</m:t></m:r></m:e></m:d></m:oMath></a14:m></a:p></p:txBody></p:sp></mc:Choice></mc:AlternateContent><p:pic><p:nvPicPr><p:cNvPr descr="imgs/CG.PNG" id="0" name="Picture 1" /><p:cNvPicPr><a:picLocks noGrp="1" noChangeAspect="1" /></p:cNvPicPr><p:nvPr /></p:nvPicPr><p:blipFill><a:blip r:embed="rId2" /><a:stretch><a:fillRect /></a:stretch></p:blipFill><p:spPr bwMode="auto"><a:xfrm><a:off x="6172200" y="1930400" /><a:ext cx="5181600" cy="3619500" /></a:xfrm><a:prstGeom prst="rect"><a:avLst /></a:prstGeom><a:noFill /><a:ln w="9525"><a:noFill /><a:headEnd /><a:tailEnd /></a:ln></p:spPr></p:pic><p:sp><p:nvSpPr><p:cNvPr id="1" name="TextBox 3" /><p:cNvSpPr txBox="1" /><p:nvPr /></p:nvSpPr><p:spPr><a:xfrm><a:off x="6172200" y="5651500" /><a:ext cx="5181600" cy="508000" /></a:xfrm><a:prstGeom prst="rect"><a:avLst /></a:prstGeom><a:noFill /></p:spPr><p:txBody><a:bodyPr /><a:lstStyle /><a:p><a:pPr lvl="0" indent="0" marL="0" algn="ctr"><a:buNone /></a:pPr><a:r><a:rPr /><a:t>Example Causal Graph: </a:t></a:r><a14:m><m:oMath xmlns:m="http://schemas.openxmlformats.org/officeDocument/2006/math"><m:r><m:t>X</m:t></m:r></m:oMath></a14:m><a:r><a:rPr /><a:t> denotes the first c-component, </a:t></a:r><a14:m><m:oMath xmlns:m="http://schemas.openxmlformats.org/officeDocument/2006/math"><m:r><m:t>Z</m:t></m:r></m:oMath></a14:m><a:r><a:rPr /><a:t> the second c-component</a:t></a:r></a:p></p:txBody></p:sp></p:spTree></p:cSld></p:sld>
</file>

<file path=ppt/slides/slide1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><a:extLst><a:ext uri="{FF2B5EF4-FFF2-40B4-BE49-F238E27FC236}"><a16:creationId id="{DD9B8E45-0772-954C-8D4B-6E6808DFEDED}" xmlns:a16="http://schemas.microsoft.com/office/drawing/2014/main" /></a:ext></a:extLst></p:cNvPr><p:cNvSpPr><a:spLocks noGrp="1" /></p:cNvSpPr><p:nvPr><p:ph type="title" /></p:nvPr></p:nvSpPr><p:spPr><a:xfrm><a:off x="838200" y="365129" /><a:ext cx="10515600" cy="1325563" /></a:xfrm><a:prstGeom prst="rect"><a:avLst /></a:prstGeom></p:spPr><p:txBody><a:bodyPr /><a:lstStyle /><a:p><a:pPr lvl="0" indent="0" marL="0"><a:buNone /></a:pPr><a:r><a:rPr /><a:t>Intuition</a:t></a:r></a:p></p:txBody></p:sp><p:pic><p:nvPicPr><p:cNvPr descr="imgs/DCM.PNG" id="0" name="Picture 1" /><p:cNvPicPr><a:picLocks noGrp="1" noChangeAspect="1" /></p:cNvPicPr><p:nvPr /></p:nvPicPr><p:blipFill><a:blip r:embed="rId2" /><a:stretch><a:fillRect /></a:stretch></p:blipFill><p:spPr bwMode="auto"><a:xfrm><a:off x="838200" y="2273300" /><a:ext cx="10515600" cy="2921000" /></a:xfrm><a:prstGeom prst="rect"><a:avLst /></a:prstGeom><a:noFill /><a:ln w="9525"><a:noFill /><a:headEnd /><a:tailEnd /></a:ln></p:spPr></p:pic><p:sp><p:nvSpPr><p:cNvPr id="1" name="TextBox 3" /><p:cNvSpPr txBox="1" /><p:nvPr /></p:nvSpPr><p:spPr><a:xfrm><a:off x="838200" y="5651500" /><a:ext cx="10515600" cy="508000" /></a:xfrm><a:prstGeom prst="rect"><a:avLst /></a:prstGeom><a:noFill /></p:spPr><p:txBody><a:bodyPr /><a:lstStyle /><a:p><a:pPr lvl="0" indent="0" marL="0" algn="ctr"><a:buNone /></a:pPr><a:r><a:rPr /><a:t>Modular training in 3 steps. Step 1: Since </a:t></a:r><a14:m><m:oMath xmlns:m="http://schemas.openxmlformats.org/officeDocument/2006/math"><m:r><m:t>P</m:t></m:r><m:d><m:dPr><m:begChr m:val="(" /><m:endChr m:val=")" /><m:sepChr m:val="" /><m:grow /></m:dPr><m:e><m:sSub><m:e><m:r><m:t>X</m:t></m:r></m:e><m:sub><m:r><m:t>1</m:t></m:r></m:sub></m:sSub><m:r><m:rPr><m:sty m:val="p" /></m:rPr><m:t>,</m:t></m:r><m:sSub><m:e><m:r><m:t>X</m:t></m:r></m:e><m:sub><m:r><m:t>2</m:t></m:r></m:sub></m:sSub><m:r><m:rPr><m:sty m:val="p" /></m:rPr><m:t>|</m:t></m:r><m:r><m:t>d</m:t></m:r><m:r><m:t>o</m:t></m:r><m:d><m:dPr><m:begChr m:val="(" /><m:endChr m:val=")" /><m:sepChr m:val="" /><m:grow /></m:dPr><m:e><m:sSub><m:e><m:r><m:t>Z</m:t></m:r></m:e><m:sub><m:r><m:t>1</m:t></m:r></m:sub></m:sSub></m:e></m:d></m:e></m:d><m:r><m:rPr><m:sty m:val="p" /></m:rPr><m:t>≠</m:t></m:r><m:r><m:t>P</m:t></m:r><m:d><m:dPr><m:begChr m:val="(" /><m:endChr m:val=")" /><m:sepChr m:val="" /><m:grow /></m:dPr><m:e><m:sSub><m:e><m:r><m:t>X</m:t></m:r></m:e><m:sub><m:r><m:t>1</m:t></m:r></m:sub></m:sSub><m:r><m:rPr><m:sty m:val="p" /></m:rPr><m:t>,</m:t></m:r><m:sSub><m:e><m:r><m:t>X</m:t></m:r></m:e><m:sub><m:r><m:t>2</m:t></m:r></m:sub></m:sSub><m:r><m:rPr><m:sty m:val="p" /></m:rPr><m:t>|</m:t></m:r><m:sSub><m:e><m:r><m:t>Z</m:t></m:r></m:e><m:sub><m:r><m:t>1</m:t></m:r></m:sub></m:sSub></m:e></m:d></m:oMath></a14:m><a:r><a:rPr /><a:t>, add an edge from c-component </a:t></a:r><a14:m><m:oMath xmlns:m="http://schemas.openxmlformats.org/officeDocument/2006/math"><m:sSub><m:e><m:r><m:t>H</m:t></m:r></m:e><m:sub><m:r><m:t>1</m:t></m:r></m:sub></m:sSub><m:r><m:rPr><m:sty m:val="p" /></m:rPr><m:t>:</m:t></m:r><m:d><m:dPr><m:begChr m:val="[" /><m:endChr m:val="]" /><m:sepChr m:val="" /><m:grow /></m:dPr><m:e><m:sSub><m:e><m:r><m:t>Z</m:t></m:r></m:e><m:sub><m:r><m:t>1</m:t></m:r></m:sub></m:sSub><m:r><m:rPr><m:sty m:val="p" /></m:rPr><m:t>,</m:t></m:r><m:sSub><m:e><m:r><m:t>Z</m:t></m:r></m:e><m:sub><m:r><m:t>2</m:t></m:r></m:sub></m:sSub><m:r><m:rPr><m:sty m:val="p" /></m:rPr><m:t>,</m:t></m:r><m:sSub><m:e><m:r><m:t>Z</m:t></m:r></m:e><m:sub><m:r><m:t>3</m:t></m:r></m:sub></m:sSub></m:e></m:d></m:oMath></a14:m><a:r><a:rPr /><a:t> to c-component </a:t></a:r><a14:m><m:oMath xmlns:m="http://schemas.openxmlformats.org/officeDocument/2006/math"><m:sSub><m:e><m:r><m:t>H</m:t></m:r></m:e><m:sub><m:r><m:t>2</m:t></m:r></m:sub></m:sSub><m:r><m:rPr><m:sty m:val="p" /></m:rPr><m:t>:</m:t></m:r><m:d><m:dPr><m:begChr m:val="[" /><m:endChr m:val="]" /><m:sepChr m:val="" /><m:grow /></m:dPr><m:e><m:sSub><m:e><m:r><m:t>X</m:t></m:r></m:e><m:sub><m:r><m:t>1</m:t></m:r></m:sub></m:sSub><m:r><m:rPr><m:sty m:val="p" /></m:rPr><m:t>,</m:t></m:r><m:sSub><m:e><m:r><m:t>X</m:t></m:r></m:e><m:sub><m:r><m:t>2</m:t></m:r></m:sub></m:sSub></m:e></m:d></m:oMath></a14:m><a:r><a:rPr /><a:t>. Step 2: Train only the mechanisms in </a:t></a:r><a14:m><m:oMath xmlns:m="http://schemas.openxmlformats.org/officeDocument/2006/math"><m:sSub><m:e><m:r><m:t>H</m:t></m:r></m:e><m:sub><m:r><m:t>1</m:t></m:r></m:sub></m:sSub></m:oMath></a14:m><a:r><a:rPr /><a:t> to match </a:t></a:r><a14:m><m:oMath xmlns:m="http://schemas.openxmlformats.org/officeDocument/2006/math"><m:r><m:t>P</m:t></m:r><m:d><m:dPr><m:begChr m:val="(" /><m:endChr m:val=")" /><m:sepChr m:val="" /><m:grow /></m:dPr><m:e><m:sSub><m:e><m:r><m:t>Z</m:t></m:r></m:e><m:sub><m:r><m:t>1</m:t></m:r></m:sub></m:sSub><m:r><m:rPr><m:sty m:val="p" /></m:rPr><m:t>,</m:t></m:r><m:sSub><m:e><m:r><m:t>Z</m:t></m:r></m:e><m:sub><m:r><m:t>2</m:t></m:r></m:sub></m:sSub><m:r><m:rPr><m:sty m:val="p" /></m:rPr><m:t>,</m:t></m:r><m:sSub><m:e><m:r><m:t>Z</m:t></m:r></m:e><m:sub><m:r><m:t>3</m:t></m:r></m:sub></m:sSub><m:r><m:rPr><m:sty m:val="p" /></m:rPr><m:t>|</m:t></m:r><m:sSub><m:e><m:r><m:t>X</m:t></m:r></m:e><m:sub><m:r><m:t>1</m:t></m:r></m:sub></m:sSub></m:e></m:d><m:r><m:rPr><m:sty m:val="p" /></m:rPr><m:t>=</m:t></m:r><m:r><m:t>Q</m:t></m:r><m:d><m:dPr><m:begChr m:val="(" /><m:endChr m:val=")" /><m:sepChr m:val="" /><m:grow /></m:dPr><m:e><m:sSub><m:e><m:r><m:t>Z</m:t></m:r></m:e><m:sub><m:r><m:t>1</m:t></m:r></m:sub></m:sSub><m:r><m:rPr><m:sty m:val="p" /></m:rPr><m:t>,</m:t></m:r><m:sSub><m:e><m:r><m:t>Z</m:t></m:r></m:e><m:sub><m:r><m:t>2</m:t></m:r></m:sub></m:sSub><m:r><m:rPr><m:sty m:val="p" /></m:rPr><m:t>,</m:t></m:r><m:sSub><m:e><m:r><m:t>Z</m:t></m:r></m:e><m:sub><m:r><m:t>3</m:t></m:r></m:sub></m:sSub><m:r><m:rPr><m:sty m:val="p" /></m:rPr><m:t>|</m:t></m:r><m:r><m:t>d</m:t></m:r><m:r><m:t>o</m:t></m:r><m:d><m:dPr><m:begChr m:val="(" /><m:endChr m:val=")" /><m:sepChr m:val="" /><m:grow /></m:dPr><m:e><m:sSub><m:e><m:r><m:t>X</m:t></m:r></m:e><m:sub><m:r><m:t>1</m:t></m:r></m:sub></m:sSub></m:e></m:d></m:e></m:d></m:oMath></a14:m><a:r><a:rPr /><a:t>. Step 3: Train only </a:t></a:r><a14:m><m:oMath xmlns:m="http://schemas.openxmlformats.org/officeDocument/2006/math"><m:sSub><m:e><m:r><m:t>H</m:t></m:r></m:e><m:sub><m:r><m:t>2</m:t></m:r></m:sub></m:sSub></m:oMath></a14:m><a:r><a:rPr /><a:t> while using pre-trained </a:t></a:r><a14:m><m:oMath xmlns:m="http://schemas.openxmlformats.org/officeDocument/2006/math"><m:sSub><m:e><m:r><m:t>Z</m:t></m:r></m:e><m:sub><m:r><m:t>1</m:t></m:r></m:sub></m:sSub><m:r><m:rPr><m:sty m:val="p" /></m:rPr><m:t>,</m:t></m:r><m:sSub><m:e><m:r><m:t>Z</m:t></m:r></m:e><m:sub><m:r><m:t>3</m:t></m:r></m:sub></m:sSub></m:oMath></a14:m><a:r><a:rPr /><a:t> to match </a:t></a:r><a14:m><m:oMath xmlns:m="http://schemas.openxmlformats.org/officeDocument/2006/math"><m:r><m:t>P</m:t></m:r><m:d><m:dPr><m:begChr m:val="(" /><m:endChr m:val=")" /><m:sepChr m:val="" /><m:grow /></m:dPr><m:e><m:sSub><m:e><m:r><m:t>X</m:t></m:r></m:e><m:sub><m:r><m:t>1</m:t></m:r></m:sub></m:sSub><m:r><m:rPr><m:sty m:val="p" /></m:rPr><m:t>,</m:t></m:r><m:sSub><m:e><m:r><m:t>X</m:t></m:r></m:e><m:sub><m:r><m:t>2</m:t></m:r></m:sub></m:sSub><m:r><m:rPr><m:sty m:val="p" /></m:rPr><m:t>,</m:t></m:r><m:sSub><m:e><m:r><m:t>Z</m:t></m:r></m:e><m:sub><m:r><m:t>1</m:t></m:r></m:sub></m:sSub><m:r><m:rPr><m:sty m:val="p" /></m:rPr><m:t>,</m:t></m:r><m:sSub><m:e><m:r><m:t>Z</m:t></m:r></m:e><m:sub><m:r><m:t>3</m:t></m:r></m:sub></m:sSub></m:e></m:d><m:r><m:rPr><m:sty m:val="p" /></m:rPr><m:t>=</m:t></m:r><m:r><m:t>Q</m:t></m:r><m:d><m:dPr><m:begChr m:val="(" /><m:endChr m:val=")" /><m:sepChr m:val="" /><m:grow /></m:dPr><m:e><m:sSub><m:e><m:r><m:t>X</m:t></m:r></m:e><m:sub><m:r><m:t>1</m:t></m:r></m:sub></m:sSub><m:r><m:rPr><m:sty m:val="p" /></m:rPr><m:t>,</m:t></m:r><m:sSub><m:e><m:r><m:t>X</m:t></m:r></m:e><m:sub><m:r><m:t>2</m:t></m:r></m:sub></m:sSub><m:r><m:rPr><m:sty m:val="p" /></m:rPr><m:t>,</m:t></m:r><m:sSub><m:e><m:r><m:t>Z</m:t></m:r></m:e><m:sub><m:r><m:t>1</m:t></m:r></m:sub></m:sSub><m:r><m:rPr><m:sty m:val="p" /></m:rPr><m:t>,</m:t></m:r><m:sSub><m:e><m:r><m:t>Z</m:t></m:r></m:e><m:sub><m:r><m:t>3</m:t></m:r></m:sub></m:sSub></m:e></m:d></m:oMath></a14:m></a:p></p:txBody></p:sp></p:spTree></p:cSld>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By training mechanisms in the same c-component together, the complexity of matching joint distributions involving high and low-dimensional variables is significantly reduced.</a:t>
            </a:r>
          </a:p>
          <a:p>
            <a:pPr lvl="0"/>
            <a:r>
              <a:rPr/>
              <a:t>Modularizing the training process allows for more efficient training and simplifies the overall learning task.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Experiments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Performance on Real-world COVIDx CXR-3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A7BF1-44B1-744C-AB68-4BB0A6A5977E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30000</m:t>
                    </m:r>
                  </m:oMath>
                </a14:m>
                <a:r>
                  <a:rPr/>
                  <a:t> XRay images with labels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(Covid) and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(Pneumonia)</a:t>
                </a:r>
              </a:p>
              <a:p>
                <a:pPr lvl="1"/>
                <a:r>
                  <a:rPr/>
                  <a:t>Healthy patiens: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1"/>
                <a:r>
                  <a:rPr/>
                  <a:t>Non-Covid Pneumonia patiens: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a:p>
              <a:p>
                <a:pPr lvl="1"/>
                <a:r>
                  <a:rPr/>
                  <a:t>Covid Pneumonia patiens: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a:p>
              <a:p>
                <a:pPr lvl="0"/>
                <a:r>
                  <a:rPr/>
                  <a:t>Patient’s location is a hidden confounder</a:t>
                </a:r>
              </a:p>
              <a:p>
                <a:pPr lvl="1"/>
                <a:r>
                  <a:rPr/>
                  <a:t>A persons socio-economic and health conditions in a specific location might affect both the likelihood of getting Covid and being properly diagnosed with Pneumonia by local health care</a:t>
                </a:r>
              </a:p>
            </p:txBody>
          </p:sp>
        </mc:Choice>
      </mc:AlternateContent>
      <p:pic>
        <p:nvPicPr>
          <p:cNvPr descr="imgs/COV_DA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124700" y="1816100"/>
            <a:ext cx="32893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6172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COVIDx CXR-3 graph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Performance on Real-world COVIDx CXR-3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Fit the joint distribution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t>R</m:t>
                        </m:r>
                        <m:r>
                          <m:t>a</m:t>
                        </m:r>
                        <m:r>
                          <m:t>y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C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N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Modular training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p"/>
                                <m:scr m:val="double-struck"/>
                              </m:rPr>
                              <m:t>G</m:t>
                            </m:r>
                          </m:e>
                          <m:sub>
                            <m:r>
                              <m:t>X</m:t>
                            </m:r>
                            <m:r>
                              <m:t>r</m:t>
                            </m:r>
                            <m:r>
                              <m:t>a</m:t>
                            </m:r>
                            <m:r>
                              <m:t>y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→</m:t>
                    </m:r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p"/>
                                <m:scr m:val="double-struck"/>
                              </m:rPr>
                              <m:t>G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rPr>
                                <m:sty m:val="p"/>
                                <m:scr m:val="double-struck"/>
                              </m:rPr>
                              <m:t>G</m:t>
                            </m:r>
                          </m:e>
                          <m:sub>
                            <m:r>
                              <m:t>N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1"/>
                <a:r>
                  <a:rPr/>
                  <a:t>Using pre-trained generative model for X-Ray images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X</m:t>
                        </m:r>
                        <m:r>
                          <m:t>r</m:t>
                        </m:r>
                        <m:r>
                          <m:t>a</m:t>
                        </m:r>
                        <m:r>
                          <m:t>y</m:t>
                        </m:r>
                      </m:sub>
                    </m:sSub>
                  </m:oMath>
                </a14:m>
              </a:p>
              <a:p>
                <a:pPr lvl="1"/>
                <a:r>
                  <a:rPr/>
                  <a:t>Train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  <m:scr m:val="double-struck"/>
                          </m:rPr>
                          <m:t>G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together as they are in the same c-component</a:t>
                </a:r>
              </a:p>
              <a:p>
                <a:pPr lvl="0"/>
                <a:r>
                  <a:rPr/>
                  <a:t>The joint distribution contains both low and high-dimensional variables</a:t>
                </a:r>
              </a:p>
              <a:p>
                <a:pPr lvl="1"/>
                <a:r>
                  <a:rPr/>
                  <a:t>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X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y</m:t>
                    </m:r>
                  </m:oMath>
                </a14:m>
                <a:r>
                  <a:rPr/>
                  <a:t> to a low-dimensional representation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x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y</m:t>
                    </m:r>
                  </m:oMath>
                </a14:m>
                <a:r>
                  <a:rPr/>
                  <a:t> with an encoder and match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C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R</m:t>
                        </m:r>
                        <m:r>
                          <m:t>x</m:t>
                        </m:r>
                        <m:r>
                          <m:t>r</m:t>
                        </m:r>
                        <m:r>
                          <m:t>a</m:t>
                        </m:r>
                        <m:r>
                          <m:t>y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N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Performance on Real-world COVIDx CXR-3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B24F9-04F1-C843-9D71-56C5C0245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score which is minimized is the Total Variation Distance (TVD)</a:t>
                </a:r>
              </a:p>
              <a:p>
                <a:pPr lvl="0"/>
                <a:r>
                  <a:rPr/>
                  <a:t>The average treatment effect, i.e., the difference between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m:t>P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|</m:t>
                            </m:r>
                            <m:r>
                              <m:t>d</m:t>
                            </m:r>
                            <m:r>
                              <m:t>o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m:t>P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|</m:t>
                            </m:r>
                            <m:r>
                              <m:t>d</m:t>
                            </m:r>
                            <m:r>
                              <m:t>o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/>
                  <a:t> is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m:t>0.05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0.08</m:t>
                        </m:r>
                      </m:e>
                    </m:d>
                  </m:oMath>
                </a14:m>
              </a:p>
              <a:p>
                <a:pPr lvl="1"/>
                <a:r>
                  <a:rPr/>
                  <a:t>Intervention with Covid increases the likelihood of being diagnosed with Pneumonia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paper propose Modular-DCM for learning deep causal generative models for estimating causal effects with high-dimensional variables in the presence of unobserved confounders</a:t>
            </a:r>
          </a:p>
          <a:p>
            <a:pPr lvl="0"/>
            <a:r>
              <a:rPr/>
              <a:t>Modular-DCM can generate high-dimensional samples from identifiable interventional and counterfactual distributions</a:t>
            </a:r>
          </a:p>
          <a:p>
            <a:pPr lvl="0"/>
            <a:r>
              <a:rPr/>
              <a:t>Main Limitation: The paper assumes that the causal graph is fully specified with latents and the causal model is semi-Markovian (the probability of there being a change in the hidden state depends on the amount of time that has elapsed since entry into the current state (?))</a:t>
            </a:r>
          </a:p>
        </p:txBody>
      </p:sp>
    </p:spTree>
  </p:cSld>
</p:sld>
</file>

<file path=ppt/theme/theme1.xml><?xml version="1.0" encoding="utf-8"?>
<a:theme xmlns:a="http://schemas.openxmlformats.org/drawingml/2006/main" name="Cosmic Lat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mic Latte" id="{689C1CBC-A372-ED4C-A38C-441AC706A1A4}" vid="{44785AA0-04C0-4846-AC8A-8123607AC8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64</Words>
  <Application>Microsoft Macintosh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Rockwell</vt:lpstr>
      <vt:lpstr>Trebuchet MS</vt:lpstr>
      <vt:lpstr>Cosmic Latte</vt:lpstr>
      <vt:lpstr>Slides 1</vt:lpstr>
      <vt:lpstr>Test 1</vt:lpstr>
      <vt:lpstr>Test 2 Sub heading</vt:lpstr>
      <vt:lpstr>New slide</vt:lpstr>
      <vt:lpstr>Incremental Lists</vt:lpstr>
      <vt:lpstr>Speaker Notes</vt:lpstr>
      <vt:lpstr>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Group 20/03/2024</dc:title>
  <dc:creator/>
  <cp:keywords/>
  <dcterms:created xsi:type="dcterms:W3CDTF">2024-03-18T16:29:07Z</dcterms:created>
  <dcterms:modified xsi:type="dcterms:W3CDTF">2024-03-18T16:29:07Z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csl">
    <vt:lpwstr>../_bib/citethemright10th.csl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odulecode">
    <vt:lpwstr/>
  </property>
  <property fmtid="{D5CDD505-2E9C-101B-9397-08002B2CF9AE}" pid="10" name="subtitle">
    <vt:lpwstr>Md Musfiqur Rahman, Murat Kocaoglu (2024): Modular Learning of Deep Causal Generative Models for High-dimensional Causal Inference</vt:lpwstr>
  </property>
  <property fmtid="{D5CDD505-2E9C-101B-9397-08002B2CF9AE}" pid="11" name="toc-title">
    <vt:lpwstr>Table of contents</vt:lpwstr>
  </property>
</Properties>
</file>