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322F"/>
    <a:srgbClr val="1A1A1A"/>
    <a:srgbClr val="E03135"/>
    <a:srgbClr val="C16069"/>
    <a:srgbClr val="FF3418"/>
    <a:srgbClr val="3A4152"/>
    <a:srgbClr val="4B556B"/>
    <a:srgbClr val="989A9C"/>
    <a:srgbClr val="FFF8E7"/>
    <a:srgbClr val="FFFC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1847"/>
    <p:restoredTop autoAdjust="0" sz="94696"/>
  </p:normalViewPr>
  <p:slideViewPr>
    <p:cSldViewPr snapToGrid="0" snapToObjects="1">
      <p:cViewPr varScale="1">
        <p:scale>
          <a:sx d="100" n="105"/>
          <a:sy d="100" n="105"/>
        </p:scale>
        <p:origin x="480" y="176"/>
      </p:cViewPr>
      <p:guideLst>
        <p:guide orient="horz" pos="2160"/>
        <p:guide pos="384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12" Type="http://schemas.openxmlformats.org/officeDocument/2006/relationships/viewProps" Target="viewProps.xml" /><Relationship Id="rId11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6EB9F-821C-3043-9B29-83C5977F5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9634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1A1A1A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337200-5D83-FE46-9E69-B6B1D353C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11302"/>
            <a:ext cx="9144000" cy="1646498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DC322F"/>
                </a:solidFill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9A7C7-1ADA-474D-B8F0-3471D14F8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E5A21-E3F8-414E-8783-9B787CEE9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A10B1-3C39-5B4F-85DD-4E44D8BDB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5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DC322F"/>
                </a:solidFill>
                <a:latin typeface="Trebuchet MS" panose="020B070302020209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559EF-BAB7-0E42-9E60-A03A3B0DD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BB6D2-A026-D74A-8C2A-7AD33F22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1D05D-520A-D942-8D98-B02EF8CF6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714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A6CB2-D1B6-B94A-84C1-83C65423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400">
                <a:solidFill>
                  <a:srgbClr val="1A1A1A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16D53-A7E8-384A-A924-CB556123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D3A5F-D224-144E-B1C6-E4C0A0C6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85A41-9B71-494D-8739-5A09F705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2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FDBC1-527D-3041-984A-EF5E7E9B7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C322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A7BF1-44B1-744C-AB68-4BB0A6A59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74A49-6A1E-2F48-B419-02B0A17B9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A9989-2AC6-0F4E-ADFD-C6E06D00A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625DC-FC15-A34E-972A-D70B8A827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A2A21-61F6-4A4F-8B34-7B5540EF6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31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51DF4-AED1-614B-BE12-21438630C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C322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DBCAE-E5F3-8C40-9708-53662383E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rgbClr val="1A1A1A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C57552-3DC5-3546-AB54-31C74D633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43EE9D-F5D6-F54D-8468-AEFB4E7186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rgbClr val="1A1A1A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7198EC-0E7C-514D-9D5C-E0079B57D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9E07E0-5A9C-4B41-95FF-3BAA5F6BC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BDB537-974F-D34D-9750-CC69627A2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16F390-2D22-5048-A0FC-3FAD9329A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9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BD455-6580-E548-84D2-30E8C319B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C322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437170-F497-734A-8863-A2B1D6D2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3678E-8EC0-9D40-85FD-A78B7303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10869-C0FC-2E44-824A-787E6D8BF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84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CFB1ED-2AE6-5449-BE22-43836D3C4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D820E-FB19-6E41-9F98-FE01AD87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09D32-6061-E14C-B370-0847ED7F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23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6003-B489-CA46-A95C-C1AECC0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>
                <a:solidFill>
                  <a:srgbClr val="DC322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8BCD6-9805-9E45-9B7C-5314F41E6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BA411-2A54-A94A-B3FC-826281DB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F4F16-08DB-C247-8F9D-24EA7D84A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F2B46-16CB-7E41-AD5E-4493C9285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A2BC5-3886-C647-BB53-7B07EAE78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537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682B8-C849-1F4E-8FED-86CF39DF5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>
                <a:solidFill>
                  <a:srgbClr val="DC322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A410FE-1E10-8C4A-BD9D-9A0F6C9D1E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22F09-1B36-2F4E-8EEA-BAEEB3FD2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97009-98F8-D441-A078-A31F891B4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ACA9B-B433-8E45-A2A3-CD0940DBC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A396B-3342-4645-AC86-58732AAEF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60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8FF1A-8372-FB40-B0E0-0EE88C8B2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C322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F1868-78C4-704F-87A4-9909281CB5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64A86-EE40-7F47-8F4A-D5FD082D3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36DD5-D90C-D148-9A75-6E5EF76E4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649B3-720E-654D-9610-263AC0D91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995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5E4B96-467B-A24D-9EC1-DD46EE699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rgbClr val="1A1A1A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0EC97-EC51-3242-A427-B6C401F9B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54FCF-A603-6944-ACE1-F3530AAB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D700E-B16B-6340-9BEE-2E563F927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BADE9-5F17-2E4E-A23B-A3EF5CC96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8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A6CB2-D1B6-B94A-84C1-83C65423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>
                <a:solidFill>
                  <a:srgbClr val="1A1A1A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433C7-4F7C-4247-8FF5-1E63E18E1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2000" b="0">
                <a:solidFill>
                  <a:srgbClr val="DC322F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16D53-A7E8-384A-A924-CB556123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D3A5F-D224-144E-B1C6-E4C0A0C6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85A41-9B71-494D-8739-5A09F705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58263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BF5EA-1FF6-EB48-B367-10F16FE226B4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GB"/>
              <a:t>Click to edit Master text styles</a:t>
            </a:r>
          </a:p>
          <a:p>
            <a:pPr lvl="1"/>
            <a:r>
              <a:rPr dirty="0" lang="en-GB"/>
              <a:t>Second level</a:t>
            </a:r>
          </a:p>
          <a:p>
            <a:pPr lvl="2"/>
            <a:r>
              <a:rPr dirty="0" lang="en-GB"/>
              <a:t>Third level</a:t>
            </a:r>
          </a:p>
          <a:p>
            <a:pPr lvl="3"/>
            <a:r>
              <a:rPr dirty="0" lang="en-GB"/>
              <a:t>Fourth level</a:t>
            </a:r>
          </a:p>
          <a:p>
            <a:pPr lvl="4"/>
            <a:r>
              <a:rPr dirty="0" lang="en-GB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491ED-FFB7-904F-8814-ED29EAA4264A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6F4AD-BD6B-CE47-88CB-D7910584936B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E305052-7E31-8548-802E-BBA9CB132D12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A9FF2A29-0C17-AD44-9B62-E2C61042D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GB"/>
              <a:t>Click to edit Master title style</a:t>
            </a:r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322565074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514350" eaLnBrk="1" hangingPunct="1" latinLnBrk="0" rtl="0">
        <a:lnSpc>
          <a:spcPct val="90000"/>
        </a:lnSpc>
        <a:spcBef>
          <a:spcPct val="0"/>
        </a:spcBef>
        <a:buNone/>
        <a:defRPr b="1" baseline="0" i="0" kern="1200" sz="3200">
          <a:solidFill>
            <a:srgbClr val="DC322F"/>
          </a:solidFill>
          <a:latin charset="0" panose="020B0703020202090204" pitchFamily="34" typeface="Trebuchet MS"/>
          <a:ea typeface="+mj-ea"/>
          <a:cs charset="-79" panose="020B0502020104020203" pitchFamily="34" typeface="Gill Sans"/>
        </a:defRPr>
      </a:lvl1pPr>
    </p:titleStyle>
    <p:bodyStyle>
      <a:lvl1pPr algn="l" defTabSz="514350" eaLnBrk="1" hangingPunct="1" indent="-128588" latinLnBrk="0" marL="128588" rtl="0">
        <a:lnSpc>
          <a:spcPts val="2400"/>
        </a:lnSpc>
        <a:spcBef>
          <a:spcPts val="1600"/>
        </a:spcBef>
        <a:buFont charset="0" panose="020B0604020202020204" pitchFamily="34" typeface="Arial"/>
        <a:buChar char="•"/>
        <a:defRPr b="0" baseline="0" i="0" kern="1200" sz="1800">
          <a:solidFill>
            <a:srgbClr val="1A1A1A"/>
          </a:solidFill>
          <a:latin charset="0" panose="020B0604020202020204" pitchFamily="34" typeface="Arial"/>
          <a:ea typeface="+mn-ea"/>
          <a:cs charset="0" panose="020B0604020202020204" pitchFamily="34" typeface="Arial"/>
        </a:defRPr>
      </a:lvl1pPr>
      <a:lvl2pPr algn="l" defTabSz="514350" eaLnBrk="1" hangingPunct="1" indent="-128588" latinLnBrk="0" marL="385763" rtl="0">
        <a:lnSpc>
          <a:spcPts val="2400"/>
        </a:lnSpc>
        <a:spcBef>
          <a:spcPts val="1600"/>
        </a:spcBef>
        <a:buFont charset="0" panose="020B0604020202020204" pitchFamily="34" typeface="Arial"/>
        <a:buChar char="•"/>
        <a:defRPr b="0" baseline="0" i="0" kern="1200" sz="1800">
          <a:solidFill>
            <a:srgbClr val="1A1A1A"/>
          </a:solidFill>
          <a:latin charset="0" panose="020B0604020202020204" pitchFamily="34" typeface="Arial"/>
          <a:ea typeface="+mn-ea"/>
          <a:cs charset="0" panose="020B0604020202020204" pitchFamily="34" typeface="Arial"/>
        </a:defRPr>
      </a:lvl2pPr>
      <a:lvl3pPr algn="l" defTabSz="514350" eaLnBrk="1" hangingPunct="1" indent="-128588" latinLnBrk="0" marL="642938" rtl="0">
        <a:lnSpc>
          <a:spcPts val="2400"/>
        </a:lnSpc>
        <a:spcBef>
          <a:spcPts val="1600"/>
        </a:spcBef>
        <a:buFont charset="0" panose="020B0604020202020204" pitchFamily="34" typeface="Arial"/>
        <a:buChar char="•"/>
        <a:defRPr b="0" baseline="0" i="0" kern="1200" sz="1800">
          <a:solidFill>
            <a:srgbClr val="1A1A1A"/>
          </a:solidFill>
          <a:latin charset="0" panose="020B0604020202020204" pitchFamily="34" typeface="Arial"/>
          <a:ea typeface="+mn-ea"/>
          <a:cs charset="0" panose="020B0604020202020204" pitchFamily="34" typeface="Arial"/>
        </a:defRPr>
      </a:lvl3pPr>
      <a:lvl4pPr algn="l" defTabSz="514350" eaLnBrk="1" hangingPunct="1" indent="-128588" latinLnBrk="0" marL="900113" rtl="0">
        <a:lnSpc>
          <a:spcPts val="2400"/>
        </a:lnSpc>
        <a:spcBef>
          <a:spcPts val="1600"/>
        </a:spcBef>
        <a:buFont charset="0" panose="020B0604020202020204" pitchFamily="34" typeface="Arial"/>
        <a:buChar char="•"/>
        <a:defRPr b="0" baseline="0" i="0" kern="1200" sz="1800">
          <a:solidFill>
            <a:srgbClr val="1A1A1A"/>
          </a:solidFill>
          <a:latin charset="0" panose="020B0604020202020204" pitchFamily="34" typeface="Arial"/>
          <a:ea typeface="+mn-ea"/>
          <a:cs charset="0" panose="020B0604020202020204" pitchFamily="34" typeface="Arial"/>
        </a:defRPr>
      </a:lvl4pPr>
      <a:lvl5pPr algn="l" defTabSz="514350" eaLnBrk="1" hangingPunct="1" indent="-128588" latinLnBrk="0" marL="1157288" rtl="0">
        <a:lnSpc>
          <a:spcPts val="2400"/>
        </a:lnSpc>
        <a:spcBef>
          <a:spcPts val="1600"/>
        </a:spcBef>
        <a:buFont charset="0" panose="020B0604020202020204" pitchFamily="34" typeface="Arial"/>
        <a:buChar char="•"/>
        <a:defRPr b="0" baseline="0" i="0" kern="1200" sz="1800">
          <a:solidFill>
            <a:srgbClr val="1A1A1A"/>
          </a:solidFill>
          <a:latin charset="0" panose="020B0604020202020204" pitchFamily="34" typeface="Arial"/>
          <a:ea typeface="+mn-ea"/>
          <a:cs charset="0" panose="020B0604020202020204" pitchFamily="34" typeface="Arial"/>
        </a:defRPr>
      </a:lvl5pPr>
      <a:lvl6pPr algn="l" defTabSz="514350" eaLnBrk="1" hangingPunct="1" indent="-128588" latinLnBrk="0" marL="1414463" rtl="0">
        <a:lnSpc>
          <a:spcPct val="90000"/>
        </a:lnSpc>
        <a:spcBef>
          <a:spcPts val="281"/>
        </a:spcBef>
        <a:buFont charset="0" panose="020B0604020202020204" pitchFamily="34" typeface="Arial"/>
        <a:buChar char="•"/>
        <a:defRPr kern="1200" sz="1013">
          <a:solidFill>
            <a:schemeClr val="tx1"/>
          </a:solidFill>
          <a:latin typeface="+mn-lt"/>
          <a:ea typeface="+mn-ea"/>
          <a:cs typeface="+mn-cs"/>
        </a:defRPr>
      </a:lvl6pPr>
      <a:lvl7pPr algn="l" defTabSz="514350" eaLnBrk="1" hangingPunct="1" indent="-128588" latinLnBrk="0" marL="1671638" rtl="0">
        <a:lnSpc>
          <a:spcPct val="90000"/>
        </a:lnSpc>
        <a:spcBef>
          <a:spcPts val="281"/>
        </a:spcBef>
        <a:buFont charset="0" panose="020B0604020202020204" pitchFamily="34" typeface="Arial"/>
        <a:buChar char="•"/>
        <a:defRPr kern="1200" sz="1013">
          <a:solidFill>
            <a:schemeClr val="tx1"/>
          </a:solidFill>
          <a:latin typeface="+mn-lt"/>
          <a:ea typeface="+mn-ea"/>
          <a:cs typeface="+mn-cs"/>
        </a:defRPr>
      </a:lvl7pPr>
      <a:lvl8pPr algn="l" defTabSz="514350" eaLnBrk="1" hangingPunct="1" indent="-128588" latinLnBrk="0" marL="1928813" rtl="0">
        <a:lnSpc>
          <a:spcPct val="90000"/>
        </a:lnSpc>
        <a:spcBef>
          <a:spcPts val="281"/>
        </a:spcBef>
        <a:buFont charset="0" panose="020B0604020202020204" pitchFamily="34" typeface="Arial"/>
        <a:buChar char="•"/>
        <a:defRPr kern="1200" sz="1013">
          <a:solidFill>
            <a:schemeClr val="tx1"/>
          </a:solidFill>
          <a:latin typeface="+mn-lt"/>
          <a:ea typeface="+mn-ea"/>
          <a:cs typeface="+mn-cs"/>
        </a:defRPr>
      </a:lvl8pPr>
      <a:lvl9pPr algn="l" defTabSz="514350" eaLnBrk="1" hangingPunct="1" indent="-128588" latinLnBrk="0" marL="2185988" rtl="0">
        <a:lnSpc>
          <a:spcPct val="90000"/>
        </a:lnSpc>
        <a:spcBef>
          <a:spcPts val="281"/>
        </a:spcBef>
        <a:buFont charset="0" panose="020B0604020202020204" pitchFamily="34" typeface="Arial"/>
        <a:buChar char="•"/>
        <a:defRPr kern="1200" sz="1013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514350" eaLnBrk="1" hangingPunct="1" latinLnBrk="0" marL="0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1pPr>
      <a:lvl2pPr algn="l" defTabSz="514350" eaLnBrk="1" hangingPunct="1" latinLnBrk="0" marL="257175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2pPr>
      <a:lvl3pPr algn="l" defTabSz="514350" eaLnBrk="1" hangingPunct="1" latinLnBrk="0" marL="514350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3pPr>
      <a:lvl4pPr algn="l" defTabSz="514350" eaLnBrk="1" hangingPunct="1" latinLnBrk="0" marL="771525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4pPr>
      <a:lvl5pPr algn="l" defTabSz="514350" eaLnBrk="1" hangingPunct="1" latinLnBrk="0" marL="1028700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5pPr>
      <a:lvl6pPr algn="l" defTabSz="514350" eaLnBrk="1" hangingPunct="1" latinLnBrk="0" marL="1285875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6pPr>
      <a:lvl7pPr algn="l" defTabSz="514350" eaLnBrk="1" hangingPunct="1" latinLnBrk="0" marL="1543050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7pPr>
      <a:lvl8pPr algn="l" defTabSz="514350" eaLnBrk="1" hangingPunct="1" latinLnBrk="0" marL="1800225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8pPr>
      <a:lvl9pPr algn="l" defTabSz="514350" eaLnBrk="1" hangingPunct="1" latinLnBrk="0" marL="2057400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6EB9F-821C-3043-9B29-83C5977F5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96341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Donald D. Bergh: Thinking Strategically about Contribution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337200-5D83-FE46-9E69-B6B1D353C69A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11302"/>
            <a:ext cx="9144000" cy="1646498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Presented by: Jan Teichert-Kluge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9A7C7-1ADA-474D-B8F0-3471D14F86DA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2024-04-16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Experience:</a:t>
            </a:r>
          </a:p>
          <a:p>
            <a:pPr lvl="1"/>
            <a:r>
              <a:rPr/>
              <a:t>Initial belief: Solid study = publication.</a:t>
            </a:r>
          </a:p>
          <a:p>
            <a:pPr lvl="1"/>
            <a:r>
              <a:rPr/>
              <a:t>Emphasis on methodology over theory led to rejections.</a:t>
            </a:r>
          </a:p>
          <a:p>
            <a:pPr lvl="0"/>
            <a:r>
              <a:rPr/>
              <a:t>Realization:</a:t>
            </a:r>
          </a:p>
          <a:p>
            <a:pPr lvl="1"/>
            <a:r>
              <a:rPr/>
              <a:t>Importance of theoretical implications and not just methodological contributions.</a:t>
            </a:r>
          </a:p>
          <a:p>
            <a:pPr lvl="0"/>
            <a:r>
              <a:rPr/>
              <a:t>Common Mistake:</a:t>
            </a:r>
          </a:p>
          <a:p>
            <a:pPr lvl="1"/>
            <a:r>
              <a:rPr/>
              <a:t>Misunderstanding what journals value, leading to repeated rejections.</a:t>
            </a:r>
          </a:p>
          <a:p>
            <a:pPr lvl="0"/>
            <a:r>
              <a:rPr/>
              <a:t>How to improve submissions?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Understanding Journal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Understanding the </a:t>
            </a:r>
            <a:r>
              <a:rPr i="1"/>
              <a:t>Publishing Environment</a:t>
            </a:r>
            <a:r>
              <a:rPr/>
              <a:t>:</a:t>
            </a:r>
          </a:p>
          <a:p>
            <a:pPr lvl="0"/>
            <a:r>
              <a:rPr/>
              <a:t>Journal Space is Limited:</a:t>
            </a:r>
          </a:p>
          <a:p>
            <a:pPr lvl="1"/>
            <a:r>
              <a:rPr/>
              <a:t>Not all methodologically rigorous articles are published.</a:t>
            </a:r>
          </a:p>
          <a:p>
            <a:pPr lvl="0"/>
            <a:r>
              <a:rPr/>
              <a:t>Using Strategic Submission:</a:t>
            </a:r>
          </a:p>
          <a:p>
            <a:pPr lvl="1"/>
            <a:r>
              <a:rPr/>
              <a:t>Viewing manuscript submission as a strategic game.</a:t>
            </a:r>
          </a:p>
          <a:p>
            <a:pPr lvl="1"/>
            <a:r>
              <a:rPr/>
              <a:t>Aligning manuscripts like firms competing for limited resources—journal pages.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Aligning Manuscript with Journal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Two Critical Assumptions:</a:t>
            </a:r>
          </a:p>
          <a:p>
            <a:pPr lvl="1" indent="-257175" marL="514350">
              <a:buAutoNum type="arabicPeriod"/>
            </a:pPr>
            <a:r>
              <a:rPr/>
              <a:t>Manuscript must match its journal’s focus.</a:t>
            </a:r>
          </a:p>
          <a:p>
            <a:pPr lvl="1" indent="-257175" marL="514350">
              <a:buAutoNum type="arabicPeriod"/>
            </a:pPr>
            <a:r>
              <a:rPr/>
              <a:t>Closer the match, higher the publication likelihood.</a:t>
            </a:r>
          </a:p>
          <a:p>
            <a:pPr lvl="0"/>
            <a:r>
              <a:rPr/>
              <a:t>Key Questions:</a:t>
            </a:r>
          </a:p>
          <a:p>
            <a:pPr lvl="1"/>
            <a:r>
              <a:rPr/>
              <a:t>Does your study align with the journal’s objectives?</a:t>
            </a:r>
          </a:p>
          <a:p>
            <a:pPr lvl="1"/>
            <a:r>
              <a:rPr/>
              <a:t>How does your manuscript contribute to the theory?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Recommendations for Authors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Crafting Your Manuscript:</a:t>
            </a:r>
          </a:p>
          <a:p>
            <a:pPr lvl="1"/>
            <a:r>
              <a:rPr/>
              <a:t>Highlight empirical and theoretical contributions.</a:t>
            </a:r>
          </a:p>
          <a:p>
            <a:pPr lvl="1"/>
            <a:r>
              <a:rPr/>
              <a:t>Explicitly match your work with the journal’s needs.</a:t>
            </a:r>
          </a:p>
          <a:p>
            <a:pPr lvl="0"/>
            <a:r>
              <a:rPr/>
              <a:t>Adapting Strategy:</a:t>
            </a:r>
          </a:p>
          <a:p>
            <a:pPr lvl="1"/>
            <a:r>
              <a:rPr/>
              <a:t>Think of your manuscript as a product needing to fit a specific market.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Evaluating the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Strategic Tests for Contributions:</a:t>
            </a:r>
          </a:p>
          <a:p>
            <a:pPr lvl="0" indent="-257175" marL="257175">
              <a:buAutoNum type="arabicPeriod"/>
            </a:pPr>
            <a:r>
              <a:rPr/>
              <a:t>Value: Does the contribution add meaningful insights?</a:t>
            </a:r>
          </a:p>
          <a:p>
            <a:pPr lvl="0" indent="-257175" marL="257175">
              <a:buAutoNum type="arabicPeriod"/>
            </a:pPr>
            <a:r>
              <a:rPr/>
              <a:t>Imitability: Is the contribution unique to the theory being advanced?</a:t>
            </a:r>
          </a:p>
          <a:p>
            <a:pPr lvl="1"/>
            <a:r>
              <a:rPr/>
              <a:t>Contribution differ from existing theories?</a:t>
            </a:r>
          </a:p>
          <a:p>
            <a:pPr lvl="0" indent="-257175" marL="257175">
              <a:buAutoNum type="arabicPeriod"/>
            </a:pPr>
            <a:r>
              <a:rPr/>
              <a:t>Rareness: Does the contribution provide a novel insight?</a:t>
            </a:r>
          </a:p>
          <a:p>
            <a:pPr lvl="1"/>
            <a:r>
              <a:rPr/>
              <a:t>Originality?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Implications for Authors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Identify, Explain and Argue</a:t>
            </a:r>
            <a:r>
              <a:rPr/>
              <a:t> your contributions-</a:t>
            </a:r>
          </a:p>
          <a:p>
            <a:pPr lvl="0"/>
            <a:r>
              <a:rPr/>
              <a:t>Improving Publication Prospects:</a:t>
            </a:r>
          </a:p>
          <a:p>
            <a:pPr lvl="1"/>
            <a:r>
              <a:rPr/>
              <a:t>Not just about adding variables but explaining their theoretical relevance.</a:t>
            </a:r>
          </a:p>
          <a:p>
            <a:pPr lvl="0"/>
            <a:r>
              <a:rPr/>
              <a:t>Articulation and Defense:</a:t>
            </a:r>
          </a:p>
          <a:p>
            <a:pPr lvl="1"/>
            <a:r>
              <a:rPr/>
              <a:t>Go beyond mentioning contributions—argue and justify their importance.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Authors should take the strategic approach to their submissions.</a:t>
            </a:r>
          </a:p>
          <a:p>
            <a:pPr lvl="0"/>
            <a:r>
              <a:rPr/>
              <a:t>Methodological Soundness is not enough:</a:t>
            </a:r>
          </a:p>
          <a:p>
            <a:pPr lvl="1"/>
            <a:r>
              <a:rPr/>
              <a:t>Theoretical contributions are necessary for acceptance in top journals.</a:t>
            </a:r>
          </a:p>
          <a:p>
            <a:pPr lvl="1"/>
            <a:r>
              <a:rPr b="1"/>
              <a:t>Align your Contribution with a receptive journal</a:t>
            </a:r>
          </a:p>
          <a:p>
            <a:pPr lvl="0"/>
            <a:r>
              <a:rPr/>
              <a:t>Strategic Preparation:</a:t>
            </a:r>
          </a:p>
          <a:p>
            <a:pPr lvl="1"/>
            <a:r>
              <a:rPr/>
              <a:t>Prepare your manuscript understanding the competitive nature of submissions.</a:t>
            </a:r>
          </a:p>
          <a:p>
            <a:pPr lvl="1"/>
            <a:r>
              <a:rPr b="1"/>
              <a:t>Identify, explain and argue for your contribution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Discussion Starters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Lets talk about the optinion from Bergh.</a:t>
            </a:r>
          </a:p>
          <a:p>
            <a:pPr lvl="0"/>
            <a:r>
              <a:rPr/>
              <a:t>Do Bergh’s points apply to all areas of research?</a:t>
            </a:r>
          </a:p>
          <a:p>
            <a:pPr lvl="1"/>
            <a:r>
              <a:rPr/>
              <a:t>Some areas are very fast-moving (e.g. research in ML and AI) and more applied in general.</a:t>
            </a:r>
          </a:p>
          <a:p>
            <a:pPr lvl="0"/>
            <a:r>
              <a:rPr/>
              <a:t>Despite possible tests: The evaluation of whether a theoretical contribution is relevant and a real novelty is very subjective and depends on both the opinion and the specific research area of the reviewer.</a:t>
            </a:r>
          </a:p>
          <a:p>
            <a:pPr lvl="1"/>
            <a:r>
              <a:rPr/>
              <a:t>For some general topics, this may be less relevant, but I have sometimes experienced a large variance in the judgment of reviewers from different disciplines when it comes to specific contributions at scientific conferences.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Cosmic Lat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mic Latte" id="{689C1CBC-A372-ED4C-A38C-441AC706A1A4}" vid="{44785AA0-04C0-4846-AC8A-8123607AC8E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64</Words>
  <Application>Microsoft Macintosh PowerPoint</Application>
  <PresentationFormat>Widescreen</PresentationFormat>
  <Paragraphs>16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Rockwell</vt:lpstr>
      <vt:lpstr>Trebuchet MS</vt:lpstr>
      <vt:lpstr>Cosmic Latte</vt:lpstr>
      <vt:lpstr>Slides 1</vt:lpstr>
      <vt:lpstr>Test 1</vt:lpstr>
      <vt:lpstr>Test 2 Sub heading</vt:lpstr>
      <vt:lpstr>New slide</vt:lpstr>
      <vt:lpstr>Incremental Lists</vt:lpstr>
      <vt:lpstr>Speaker Notes</vt:lpstr>
      <vt:lpstr>Columns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Donald D. Bergh: Thinking Strategically about Contribution</dc:title>
  <dc:creator>Presented by: Jan Teichert-Kluge</dc:creator>
  <cp:keywords/>
  <dcterms:created xsi:type="dcterms:W3CDTF">2024-04-15T14:35:40Z</dcterms:created>
  <dcterms:modified xsi:type="dcterms:W3CDTF">2024-04-15T14:35:40Z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csl">
    <vt:lpwstr>_bib/citethemright10th.csl</vt:lpwstr>
  </property>
  <property fmtid="{D5CDD505-2E9C-101B-9397-08002B2CF9AE}" pid="7" name="date">
    <vt:lpwstr>2024-04-16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modulecode">
    <vt:lpwstr/>
  </property>
  <property fmtid="{D5CDD505-2E9C-101B-9397-08002B2CF9AE}" pid="13" name="toc-title">
    <vt:lpwstr>Table of contents</vt:lpwstr>
  </property>
</Properties>
</file>